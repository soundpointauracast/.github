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</p:sldIdLst>
  <p:sldSz cy="8229600" cx="14630400"/>
  <p:notesSz cx="8229600" cy="14630400"/>
  <p:embeddedFontLst>
    <p:embeddedFont>
      <p:font typeface="Lato"/>
      <p:regular r:id="rId14"/>
      <p:bold r:id="rId15"/>
      <p:italic r:id="rId16"/>
      <p:boldItalic r:id="rId17"/>
    </p:embeddedFont>
    <p:embeddedFont>
      <p:font typeface="Instrument Sans SemiBold"/>
      <p:regular r:id="rId18"/>
      <p:bold r:id="rId19"/>
      <p:italic r:id="rId20"/>
      <p:boldItalic r:id="rId21"/>
    </p:embeddedFont>
    <p:embeddedFont>
      <p:font typeface="Instrument Sans Medium"/>
      <p:regular r:id="rId22"/>
      <p:bold r:id="rId23"/>
      <p:italic r:id="rId24"/>
      <p:boldItalic r:id="rId2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InstrumentSansSemiBold-italic.fntdata"/><Relationship Id="rId22" Type="http://schemas.openxmlformats.org/officeDocument/2006/relationships/font" Target="fonts/InstrumentSansMedium-regular.fntdata"/><Relationship Id="rId21" Type="http://schemas.openxmlformats.org/officeDocument/2006/relationships/font" Target="fonts/InstrumentSansSemiBold-boldItalic.fntdata"/><Relationship Id="rId24" Type="http://schemas.openxmlformats.org/officeDocument/2006/relationships/font" Target="fonts/InstrumentSansMedium-italic.fntdata"/><Relationship Id="rId23" Type="http://schemas.openxmlformats.org/officeDocument/2006/relationships/font" Target="fonts/InstrumentSansMedium-bold.fntdata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5" Type="http://schemas.openxmlformats.org/officeDocument/2006/relationships/font" Target="fonts/InstrumentSansMedium-boldItalic.fnt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5" Type="http://schemas.openxmlformats.org/officeDocument/2006/relationships/font" Target="fonts/Lato-bold.fntdata"/><Relationship Id="rId14" Type="http://schemas.openxmlformats.org/officeDocument/2006/relationships/font" Target="fonts/Lato-regular.fntdata"/><Relationship Id="rId17" Type="http://schemas.openxmlformats.org/officeDocument/2006/relationships/font" Target="fonts/Lato-boldItalic.fntdata"/><Relationship Id="rId16" Type="http://schemas.openxmlformats.org/officeDocument/2006/relationships/font" Target="fonts/Lato-italic.fntdata"/><Relationship Id="rId19" Type="http://schemas.openxmlformats.org/officeDocument/2006/relationships/font" Target="fonts/InstrumentSansSemiBold-bold.fntdata"/><Relationship Id="rId18" Type="http://schemas.openxmlformats.org/officeDocument/2006/relationships/font" Target="fonts/InstrumentSansSemiBold-regular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371850" y="1097275"/>
            <a:ext cx="5486650" cy="5486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822950" y="6949425"/>
            <a:ext cx="6583675" cy="658367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5" name="Google Shape;45;p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" name="Google Shape;46;p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6" name="Google Shape;56;p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p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3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73" name="Google Shape;73;p3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3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4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0" name="Google Shape;90;p4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4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5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09" name="Google Shape;109;p5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5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6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26" name="Google Shape;126;p6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6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7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44" name="Google Shape;144;p7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7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8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67" name="Google Shape;167;p8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8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9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84" name="Google Shape;184;p9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9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hyperlink" Target="https://gamma.app/?utm_source=made-with-gamma" TargetMode="External"/><Relationship Id="rId4" Type="http://schemas.openxmlformats.org/officeDocument/2006/relationships/image" Target="../media/image5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hyperlink" Target="https://gamma.app/?utm_source=made-with-gamma" TargetMode="External"/><Relationship Id="rId4" Type="http://schemas.openxmlformats.org/officeDocument/2006/relationships/image" Target="../media/image5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hyperlink" Target="https://gamma.app/?utm_source=made-with-gamma" TargetMode="External"/><Relationship Id="rId4" Type="http://schemas.openxmlformats.org/officeDocument/2006/relationships/image" Target="../media/image5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hyperlink" Target="https://gamma.app/?utm_source=made-with-gamma" TargetMode="External"/><Relationship Id="rId4" Type="http://schemas.openxmlformats.org/officeDocument/2006/relationships/image" Target="../media/image5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hyperlink" Target="https://gamma.app/?utm_source=made-with-gamma" TargetMode="External"/><Relationship Id="rId4" Type="http://schemas.openxmlformats.org/officeDocument/2006/relationships/image" Target="../media/image5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hyperlink" Target="https://gamma.app/?utm_source=made-with-gamma" TargetMode="External"/><Relationship Id="rId4" Type="http://schemas.openxmlformats.org/officeDocument/2006/relationships/image" Target="../media/image5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hyperlink" Target="https://gamma.app/?utm_source=made-with-gamma" TargetMode="External"/><Relationship Id="rId4" Type="http://schemas.openxmlformats.org/officeDocument/2006/relationships/image" Target="../media/image5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hyperlink" Target="https://gamma.app/?utm_source=made-with-gamma" TargetMode="External"/><Relationship Id="rId4" Type="http://schemas.openxmlformats.org/officeDocument/2006/relationships/image" Target="../media/image5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hyperlink" Target="https://gamma.app/?utm_source=made-with-gamma" TargetMode="External"/><Relationship Id="rId4" Type="http://schemas.openxmlformats.org/officeDocument/2006/relationships/image" Target="../media/image5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1 master">
  <p:cSld name="Slide 1 master">
    <p:bg>
      <p:bgPr>
        <a:solidFill>
          <a:srgbClr val="000000"/>
        </a:solidFill>
      </p:bgPr>
    </p:bg>
    <p:spTree>
      <p:nvGrpSpPr>
        <p:cNvPr id="6" name="Shape 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7" name="Google Shape;7;p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Google Shape;8;p2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490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9" name="Google Shape;9;p2">
            <a:hlinkClick r:id="rId3"/>
          </p:cNvPr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2 master">
  <p:cSld name="Slide 2 master">
    <p:bg>
      <p:bgPr>
        <a:solidFill>
          <a:srgbClr val="000000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1" name="Google Shape;11;p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12" name="Google Shape;12;p3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490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3" name="Google Shape;13;p3">
            <a:hlinkClick r:id="rId3"/>
          </p:cNvPr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6 master">
  <p:cSld name="Slide 6 master">
    <p:bg>
      <p:bgPr>
        <a:solidFill>
          <a:srgbClr val="000000"/>
        </a:solidFill>
      </p:bgPr>
    </p:bg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5" name="Google Shape;15;p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16" name="Google Shape;16;p4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490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7" name="Google Shape;17;p4">
            <a:hlinkClick r:id="rId3"/>
          </p:cNvPr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4 master">
  <p:cSld name="Slide 4 master">
    <p:bg>
      <p:bgPr>
        <a:solidFill>
          <a:srgbClr val="000000"/>
        </a:solidFill>
      </p:bgPr>
    </p:bg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9" name="Google Shape;19;p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20" name="Google Shape;20;p5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490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1" name="Google Shape;21;p5">
            <a:hlinkClick r:id="rId3"/>
          </p:cNvPr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5 master">
  <p:cSld name="Slide 5 master">
    <p:bg>
      <p:bgPr>
        <a:solidFill>
          <a:srgbClr val="000000"/>
        </a:solidFill>
      </p:bgPr>
    </p:bg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23" name="Google Shape;23;p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24" name="Google Shape;24;p6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490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5" name="Google Shape;25;p6">
            <a:hlinkClick r:id="rId3"/>
          </p:cNvPr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7 master">
  <p:cSld name="Slide 7 master">
    <p:bg>
      <p:bgPr>
        <a:solidFill>
          <a:srgbClr val="000000"/>
        </a:solidFill>
      </p:bgPr>
    </p:bg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27" name="Google Shape;27;p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28" name="Google Shape;28;p7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490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9" name="Google Shape;29;p7">
            <a:hlinkClick r:id="rId3"/>
          </p:cNvPr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8 master">
  <p:cSld name="Slide 8 master">
    <p:bg>
      <p:bgPr>
        <a:solidFill>
          <a:srgbClr val="000000"/>
        </a:solidFill>
      </p:bgPr>
    </p:bg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31" name="Google Shape;31;p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32" name="Google Shape;32;p8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490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3" name="Google Shape;33;p8">
            <a:hlinkClick r:id="rId3"/>
          </p:cNvPr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9 master">
  <p:cSld name="Slide 9 master">
    <p:bg>
      <p:bgPr>
        <a:solidFill>
          <a:srgbClr val="000000"/>
        </a:solidFill>
      </p:bgPr>
    </p:bg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35" name="Google Shape;35;p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36" name="Google Shape;36;p9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490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7" name="Google Shape;37;p9">
            <a:hlinkClick r:id="rId3"/>
          </p:cNvPr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3 master">
  <p:cSld name="Slide 3 master">
    <p:bg>
      <p:bgPr>
        <a:solidFill>
          <a:srgbClr val="000000"/>
        </a:solidFill>
      </p:bgPr>
    </p:bg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40" name="Google Shape;40;p1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41" name="Google Shape;41;p1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490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2" name="Google Shape;42;p11">
            <a:hlinkClick r:id="rId3"/>
          </p:cNvPr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theme" Target="../theme/theme2.xml"/><Relationship Id="rId10" Type="http://schemas.openxmlformats.org/officeDocument/2006/relationships/slideLayout" Target="../slideLayouts/slideLayout10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7.png"/><Relationship Id="rId4" Type="http://schemas.openxmlformats.org/officeDocument/2006/relationships/image" Target="../media/image3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8.png"/><Relationship Id="rId4" Type="http://schemas.openxmlformats.org/officeDocument/2006/relationships/image" Target="../media/image9.png"/><Relationship Id="rId5" Type="http://schemas.openxmlformats.org/officeDocument/2006/relationships/image" Target="../media/image11.png"/><Relationship Id="rId6" Type="http://schemas.openxmlformats.org/officeDocument/2006/relationships/image" Target="../media/image4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2.png"/><Relationship Id="rId4" Type="http://schemas.openxmlformats.org/officeDocument/2006/relationships/image" Target="../media/image14.png"/><Relationship Id="rId5" Type="http://schemas.openxmlformats.org/officeDocument/2006/relationships/image" Target="../media/image21.png"/><Relationship Id="rId6" Type="http://schemas.openxmlformats.org/officeDocument/2006/relationships/image" Target="../media/image24.png"/><Relationship Id="rId7" Type="http://schemas.openxmlformats.org/officeDocument/2006/relationships/image" Target="../media/image10.jpg"/><Relationship Id="rId8" Type="http://schemas.openxmlformats.org/officeDocument/2006/relationships/image" Target="../media/image18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5.png"/><Relationship Id="rId4" Type="http://schemas.openxmlformats.org/officeDocument/2006/relationships/image" Target="../media/image14.png"/><Relationship Id="rId5" Type="http://schemas.openxmlformats.org/officeDocument/2006/relationships/image" Target="../media/image21.png"/><Relationship Id="rId6" Type="http://schemas.openxmlformats.org/officeDocument/2006/relationships/image" Target="../media/image24.png"/><Relationship Id="rId7" Type="http://schemas.openxmlformats.org/officeDocument/2006/relationships/image" Target="../media/image19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6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5.png"/><Relationship Id="rId4" Type="http://schemas.openxmlformats.org/officeDocument/2006/relationships/image" Target="../media/image27.png"/><Relationship Id="rId5" Type="http://schemas.openxmlformats.org/officeDocument/2006/relationships/image" Target="../media/image17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hyperlink" Target="mailto:donnik10072002@gmail.com" TargetMode="External"/><Relationship Id="rId4" Type="http://schemas.openxmlformats.org/officeDocument/2006/relationships/image" Target="../media/image20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48" name="Google Shape;48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5486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49" name="Google Shape;49;p12"/>
          <p:cNvSpPr/>
          <p:nvPr/>
        </p:nvSpPr>
        <p:spPr>
          <a:xfrm>
            <a:off x="6280190" y="1809869"/>
            <a:ext cx="7556421" cy="35438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505468"/>
              </a:buClr>
              <a:buSzPts val="4450"/>
              <a:buFont typeface="Instrument Sans SemiBold"/>
              <a:buNone/>
            </a:pPr>
            <a:r>
              <a:rPr b="1" i="0" lang="en-US" sz="4450" u="none" cap="none" strike="noStrike">
                <a:solidFill>
                  <a:srgbClr val="505468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rPr>
              <a:t>Беспроводной индуктор для слуховых имплантов</a:t>
            </a:r>
            <a:endParaRPr b="0" i="0" sz="4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p12"/>
          <p:cNvSpPr/>
          <p:nvPr/>
        </p:nvSpPr>
        <p:spPr>
          <a:xfrm>
            <a:off x="6280190" y="5693926"/>
            <a:ext cx="7556421" cy="7258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5B5F71"/>
              </a:buClr>
              <a:buSzPts val="1750"/>
              <a:buFont typeface="Instrument Sans Medium"/>
              <a:buNone/>
            </a:pPr>
            <a:r>
              <a:rPr b="0" i="0" lang="en-US" sz="1750" u="none" cap="none" strike="noStrike">
                <a:solidFill>
                  <a:srgbClr val="5B5F7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rPr>
              <a:t>Новый подход к передаче звука для слуховых имплантов. Комфорт, свобода и качество звучания.</a:t>
            </a:r>
            <a:endParaRPr b="0" i="0" sz="1750" u="none" cap="none" strike="noStrike">
              <a:solidFill>
                <a:srgbClr val="5B5F71"/>
              </a:solidFill>
              <a:latin typeface="Instrument Sans Medium"/>
              <a:ea typeface="Instrument Sans Medium"/>
              <a:cs typeface="Instrument Sans Medium"/>
              <a:sym typeface="Instrument Sans Medium"/>
            </a:endParaRPr>
          </a:p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50"/>
              <a:buFont typeface="Calibri"/>
              <a:buNone/>
            </a:pPr>
            <a:r>
              <a:t/>
            </a:r>
            <a:endParaRPr b="0" i="0" sz="1750" u="none" cap="none" strike="noStrike">
              <a:solidFill>
                <a:srgbClr val="5B5F7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50"/>
              <a:buFont typeface="Calibri"/>
              <a:buNone/>
            </a:pPr>
            <a:r>
              <a:t/>
            </a:r>
            <a:endParaRPr b="0" i="0" sz="1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" name="Google Shape;51;p12"/>
          <p:cNvSpPr/>
          <p:nvPr/>
        </p:nvSpPr>
        <p:spPr>
          <a:xfrm>
            <a:off x="12587288" y="7543800"/>
            <a:ext cx="2043112" cy="685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2" name="Google Shape;52;p1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-275771"/>
            <a:ext cx="5486400" cy="9013371"/>
          </a:xfrm>
          <a:prstGeom prst="rect">
            <a:avLst/>
          </a:prstGeom>
          <a:noFill/>
          <a:ln>
            <a:noFill/>
          </a:ln>
        </p:spPr>
      </p:pic>
      <p:sp>
        <p:nvSpPr>
          <p:cNvPr id="53" name="Google Shape;53;p12"/>
          <p:cNvSpPr/>
          <p:nvPr/>
        </p:nvSpPr>
        <p:spPr>
          <a:xfrm>
            <a:off x="10441880" y="7411491"/>
            <a:ext cx="6333927" cy="26461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1222"/>
              </a:lnSpc>
              <a:spcBef>
                <a:spcPts val="0"/>
              </a:spcBef>
              <a:spcAft>
                <a:spcPts val="0"/>
              </a:spcAft>
              <a:buClr>
                <a:srgbClr val="5B5F71"/>
              </a:buClr>
              <a:buSzPts val="1292"/>
              <a:buFont typeface="Instrument Sans Medium"/>
              <a:buNone/>
            </a:pPr>
            <a:r>
              <a:rPr b="0" i="0" lang="en-US" sz="1292" u="none" cap="none" strike="noStrike">
                <a:solidFill>
                  <a:srgbClr val="5B5F7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rPr>
              <a:t>Автор: Никитин Даниил Константинович, РК9Ц-81Б</a:t>
            </a:r>
            <a:endParaRPr/>
          </a:p>
          <a:p>
            <a:pPr indent="0" lvl="0" marL="0" marR="0" rtl="0" algn="l">
              <a:lnSpc>
                <a:spcPct val="161222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92"/>
              <a:buFont typeface="Calibri"/>
              <a:buNone/>
            </a:pPr>
            <a:r>
              <a:t/>
            </a:r>
            <a:endParaRPr b="0" i="0" sz="1292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59" name="Google Shape;59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4630400" cy="2835235"/>
          </a:xfrm>
          <a:prstGeom prst="rect">
            <a:avLst/>
          </a:prstGeom>
          <a:noFill/>
          <a:ln>
            <a:noFill/>
          </a:ln>
        </p:spPr>
      </p:pic>
      <p:sp>
        <p:nvSpPr>
          <p:cNvPr id="60" name="Google Shape;60;p13"/>
          <p:cNvSpPr/>
          <p:nvPr/>
        </p:nvSpPr>
        <p:spPr>
          <a:xfrm>
            <a:off x="793790" y="4184332"/>
            <a:ext cx="11001732" cy="7087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505468"/>
              </a:buClr>
              <a:buSzPts val="4450"/>
              <a:buFont typeface="Instrument Sans SemiBold"/>
              <a:buNone/>
            </a:pPr>
            <a:r>
              <a:rPr b="1" lang="en-US" sz="4450">
                <a:solidFill>
                  <a:srgbClr val="505468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rPr>
              <a:t>Цель проекта: Свобода и качество звука</a:t>
            </a:r>
            <a:endParaRPr sz="44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61" name="Google Shape;61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93790" y="5233273"/>
            <a:ext cx="566976" cy="566976"/>
          </a:xfrm>
          <a:prstGeom prst="rect">
            <a:avLst/>
          </a:prstGeom>
          <a:noFill/>
          <a:ln>
            <a:noFill/>
          </a:ln>
        </p:spPr>
      </p:pic>
      <p:sp>
        <p:nvSpPr>
          <p:cNvPr id="62" name="Google Shape;62;p13"/>
          <p:cNvSpPr/>
          <p:nvPr/>
        </p:nvSpPr>
        <p:spPr>
          <a:xfrm>
            <a:off x="793790" y="6027063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5B5F71"/>
              </a:buClr>
              <a:buSzPts val="2200"/>
              <a:buFont typeface="Instrument Sans SemiBold"/>
              <a:buNone/>
            </a:pPr>
            <a:r>
              <a:rPr b="1" lang="en-US" sz="2200">
                <a:solidFill>
                  <a:srgbClr val="5B5F7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rPr>
              <a:t>Свобода движений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13"/>
          <p:cNvSpPr/>
          <p:nvPr/>
        </p:nvSpPr>
        <p:spPr>
          <a:xfrm>
            <a:off x="793790" y="6517481"/>
            <a:ext cx="4120753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5B5F71"/>
              </a:buClr>
              <a:buSzPts val="1750"/>
              <a:buFont typeface="Instrument Sans Medium"/>
              <a:buNone/>
            </a:pPr>
            <a:r>
              <a:rPr lang="en-US" sz="1750">
                <a:solidFill>
                  <a:srgbClr val="5B5F7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rPr>
              <a:t>Без ограничений проводных систем</a:t>
            </a:r>
            <a:endParaRPr sz="17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64" name="Google Shape;64;p1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254704" y="5233273"/>
            <a:ext cx="566976" cy="566976"/>
          </a:xfrm>
          <a:prstGeom prst="rect">
            <a:avLst/>
          </a:prstGeom>
          <a:noFill/>
          <a:ln>
            <a:noFill/>
          </a:ln>
        </p:spPr>
      </p:pic>
      <p:sp>
        <p:nvSpPr>
          <p:cNvPr id="65" name="Google Shape;65;p13"/>
          <p:cNvSpPr/>
          <p:nvPr/>
        </p:nvSpPr>
        <p:spPr>
          <a:xfrm>
            <a:off x="5254704" y="6027063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5B5F71"/>
              </a:buClr>
              <a:buSzPts val="2200"/>
              <a:buFont typeface="Instrument Sans SemiBold"/>
              <a:buNone/>
            </a:pPr>
            <a:r>
              <a:rPr b="1" lang="en-US" sz="2200">
                <a:solidFill>
                  <a:srgbClr val="5B5F7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rPr>
              <a:t>Высокое качество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13"/>
          <p:cNvSpPr/>
          <p:nvPr/>
        </p:nvSpPr>
        <p:spPr>
          <a:xfrm>
            <a:off x="5254704" y="6517481"/>
            <a:ext cx="4120872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5B5F71"/>
              </a:buClr>
              <a:buSzPts val="1750"/>
              <a:buFont typeface="Instrument Sans Medium"/>
              <a:buNone/>
            </a:pPr>
            <a:r>
              <a:rPr lang="en-US" sz="1750">
                <a:solidFill>
                  <a:srgbClr val="5B5F7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rPr>
              <a:t>Чистота и ясность звука</a:t>
            </a:r>
            <a:endParaRPr sz="17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67" name="Google Shape;67;p1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715738" y="5233273"/>
            <a:ext cx="566976" cy="566976"/>
          </a:xfrm>
          <a:prstGeom prst="rect">
            <a:avLst/>
          </a:prstGeom>
          <a:noFill/>
          <a:ln>
            <a:noFill/>
          </a:ln>
        </p:spPr>
      </p:pic>
      <p:sp>
        <p:nvSpPr>
          <p:cNvPr id="68" name="Google Shape;68;p13"/>
          <p:cNvSpPr/>
          <p:nvPr/>
        </p:nvSpPr>
        <p:spPr>
          <a:xfrm>
            <a:off x="9715738" y="6027063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5B5F71"/>
              </a:buClr>
              <a:buSzPts val="2200"/>
              <a:buFont typeface="Instrument Sans SemiBold"/>
              <a:buNone/>
            </a:pPr>
            <a:r>
              <a:rPr b="1" lang="en-US" sz="2200">
                <a:solidFill>
                  <a:srgbClr val="5B5F7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rPr>
              <a:t>Удобство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13"/>
          <p:cNvSpPr/>
          <p:nvPr/>
        </p:nvSpPr>
        <p:spPr>
          <a:xfrm>
            <a:off x="9715738" y="6517481"/>
            <a:ext cx="4120753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5B5F71"/>
              </a:buClr>
              <a:buSzPts val="1750"/>
              <a:buFont typeface="Instrument Sans Medium"/>
              <a:buNone/>
            </a:pPr>
            <a:r>
              <a:rPr lang="en-US" sz="1750">
                <a:solidFill>
                  <a:srgbClr val="5B5F7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rPr>
              <a:t>Простота использования</a:t>
            </a:r>
            <a:endParaRPr sz="17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13"/>
          <p:cNvSpPr/>
          <p:nvPr/>
        </p:nvSpPr>
        <p:spPr>
          <a:xfrm>
            <a:off x="12587288" y="7543800"/>
            <a:ext cx="2043112" cy="685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76" name="Google Shape;76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5486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14"/>
          <p:cNvSpPr/>
          <p:nvPr/>
        </p:nvSpPr>
        <p:spPr>
          <a:xfrm>
            <a:off x="6280190" y="1264444"/>
            <a:ext cx="7556421" cy="21263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505468"/>
              </a:buClr>
              <a:buSzPts val="4450"/>
              <a:buFont typeface="Instrument Sans SemiBold"/>
              <a:buNone/>
            </a:pPr>
            <a:r>
              <a:rPr b="1" lang="en-US" sz="4450">
                <a:solidFill>
                  <a:srgbClr val="505468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rPr>
              <a:t>Ограничения проводных систем: Устаревшие технологии</a:t>
            </a:r>
            <a:endParaRPr sz="44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14"/>
          <p:cNvSpPr/>
          <p:nvPr/>
        </p:nvSpPr>
        <p:spPr>
          <a:xfrm>
            <a:off x="6280190" y="3730942"/>
            <a:ext cx="3664863" cy="2356366"/>
          </a:xfrm>
          <a:prstGeom prst="roundRect">
            <a:avLst>
              <a:gd fmla="val 5654" name="adj"/>
            </a:avLst>
          </a:prstGeom>
          <a:solidFill>
            <a:srgbClr val="E2E3E9"/>
          </a:solidFill>
          <a:ln cap="flat" cmpd="sng" w="9525">
            <a:solidFill>
              <a:srgbClr val="C8C9C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p14"/>
          <p:cNvSpPr/>
          <p:nvPr/>
        </p:nvSpPr>
        <p:spPr>
          <a:xfrm>
            <a:off x="6514624" y="3965377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00">
                <a:solidFill>
                  <a:srgbClr val="505468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rPr>
              <a:t>Низкий комфорт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Calibri"/>
              <a:buNone/>
            </a:pPr>
            <a:r>
              <a:t/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14"/>
          <p:cNvSpPr/>
          <p:nvPr/>
        </p:nvSpPr>
        <p:spPr>
          <a:xfrm>
            <a:off x="6514624" y="4455795"/>
            <a:ext cx="3195995" cy="7258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5B5F71"/>
              </a:buClr>
              <a:buSzPts val="1750"/>
              <a:buFont typeface="Instrument Sans Medium"/>
              <a:buNone/>
            </a:pPr>
            <a:r>
              <a:rPr lang="en-US" sz="1750">
                <a:solidFill>
                  <a:srgbClr val="5B5F7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rPr>
              <a:t>Существующие решения недостаточно удобны. Они уступают в технологичности.</a:t>
            </a:r>
            <a:endParaRPr sz="17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14"/>
          <p:cNvSpPr/>
          <p:nvPr/>
        </p:nvSpPr>
        <p:spPr>
          <a:xfrm>
            <a:off x="10171867" y="3730941"/>
            <a:ext cx="3664863" cy="2356367"/>
          </a:xfrm>
          <a:prstGeom prst="roundRect">
            <a:avLst>
              <a:gd fmla="val 5654" name="adj"/>
            </a:avLst>
          </a:prstGeom>
          <a:solidFill>
            <a:srgbClr val="E2E3E9"/>
          </a:solidFill>
          <a:ln cap="flat" cmpd="sng" w="9525">
            <a:solidFill>
              <a:srgbClr val="C8C9C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4"/>
          <p:cNvSpPr/>
          <p:nvPr/>
        </p:nvSpPr>
        <p:spPr>
          <a:xfrm>
            <a:off x="10406301" y="3965377"/>
            <a:ext cx="2883813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5B5F71"/>
              </a:buClr>
              <a:buSzPts val="2200"/>
              <a:buFont typeface="Instrument Sans SemiBold"/>
              <a:buNone/>
            </a:pPr>
            <a:r>
              <a:rPr b="1" lang="en-US" sz="2200">
                <a:solidFill>
                  <a:srgbClr val="5B5F7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rPr>
              <a:t>Низкая мобильность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14"/>
          <p:cNvSpPr/>
          <p:nvPr/>
        </p:nvSpPr>
        <p:spPr>
          <a:xfrm>
            <a:off x="10406301" y="4455795"/>
            <a:ext cx="3195995" cy="7258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5B5F71"/>
              </a:buClr>
              <a:buSzPts val="1750"/>
              <a:buFont typeface="Instrument Sans Medium"/>
              <a:buNone/>
            </a:pPr>
            <a:r>
              <a:rPr lang="en-US" sz="1750">
                <a:solidFill>
                  <a:srgbClr val="5B5F7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rPr>
              <a:t>Проводные индукторы сковывают движения. Они создают неудобства в повседневной жизни.</a:t>
            </a:r>
            <a:endParaRPr/>
          </a:p>
        </p:txBody>
      </p:sp>
      <p:sp>
        <p:nvSpPr>
          <p:cNvPr id="84" name="Google Shape;84;p14"/>
          <p:cNvSpPr/>
          <p:nvPr/>
        </p:nvSpPr>
        <p:spPr>
          <a:xfrm>
            <a:off x="6280190" y="6154460"/>
            <a:ext cx="7556421" cy="1322189"/>
          </a:xfrm>
          <a:prstGeom prst="roundRect">
            <a:avLst>
              <a:gd fmla="val 7205" name="adj"/>
            </a:avLst>
          </a:prstGeom>
          <a:solidFill>
            <a:srgbClr val="E2E3E9"/>
          </a:solidFill>
          <a:ln cap="flat" cmpd="sng" w="9525">
            <a:solidFill>
              <a:srgbClr val="C8C9C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" name="Google Shape;85;p14"/>
          <p:cNvSpPr/>
          <p:nvPr/>
        </p:nvSpPr>
        <p:spPr>
          <a:xfrm>
            <a:off x="6514624" y="6388894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5B5F71"/>
              </a:buClr>
              <a:buSzPts val="2200"/>
              <a:buFont typeface="Instrument Sans SemiBold"/>
              <a:buNone/>
            </a:pPr>
            <a:r>
              <a:rPr b="1" lang="en-US" sz="2200">
                <a:solidFill>
                  <a:srgbClr val="5B5F7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rPr>
              <a:t>Потеря качества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14"/>
          <p:cNvSpPr/>
          <p:nvPr/>
        </p:nvSpPr>
        <p:spPr>
          <a:xfrm>
            <a:off x="6514624" y="6879313"/>
            <a:ext cx="7087553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5B5F71"/>
              </a:buClr>
              <a:buSzPts val="1750"/>
              <a:buFont typeface="Instrument Sans Medium"/>
              <a:buNone/>
            </a:pPr>
            <a:r>
              <a:rPr lang="en-US" sz="1750">
                <a:solidFill>
                  <a:srgbClr val="5B5F7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rPr>
              <a:t>Искажения звука из-за кабеля.</a:t>
            </a:r>
            <a:endParaRPr sz="17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14"/>
          <p:cNvSpPr/>
          <p:nvPr/>
        </p:nvSpPr>
        <p:spPr>
          <a:xfrm>
            <a:off x="12587288" y="7543800"/>
            <a:ext cx="2043112" cy="685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93" name="Google Shape;93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5486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p15"/>
          <p:cNvSpPr/>
          <p:nvPr/>
        </p:nvSpPr>
        <p:spPr>
          <a:xfrm>
            <a:off x="6280190" y="1194554"/>
            <a:ext cx="7556421" cy="141755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505468"/>
              </a:buClr>
              <a:buSzPts val="4450"/>
              <a:buFont typeface="Instrument Sans SemiBold"/>
              <a:buNone/>
            </a:pPr>
            <a:r>
              <a:rPr b="1" lang="en-US" sz="4450">
                <a:solidFill>
                  <a:srgbClr val="505468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rPr>
              <a:t>Решение: Беспроводная свобода</a:t>
            </a:r>
            <a:endParaRPr sz="44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95" name="Google Shape;95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80190" y="2952274"/>
            <a:ext cx="1134070" cy="1360884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15"/>
          <p:cNvSpPr/>
          <p:nvPr/>
        </p:nvSpPr>
        <p:spPr>
          <a:xfrm>
            <a:off x="7754422" y="3179088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5B5F71"/>
              </a:buClr>
              <a:buSzPts val="2200"/>
              <a:buFont typeface="Instrument Sans SemiBold"/>
              <a:buNone/>
            </a:pPr>
            <a:r>
              <a:rPr b="1" lang="en-US" sz="2200">
                <a:solidFill>
                  <a:srgbClr val="5B5F7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rPr>
              <a:t>Компактность 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15"/>
          <p:cNvSpPr/>
          <p:nvPr/>
        </p:nvSpPr>
        <p:spPr>
          <a:xfrm>
            <a:off x="7754422" y="3669506"/>
            <a:ext cx="6082189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5B5F71"/>
              </a:buClr>
              <a:buSzPts val="1750"/>
              <a:buFont typeface="Instrument Sans Medium"/>
              <a:buNone/>
            </a:pPr>
            <a:r>
              <a:rPr lang="en-US" sz="1750">
                <a:solidFill>
                  <a:srgbClr val="5B5F7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rPr>
              <a:t>Будет встроен индуктор в плату FR4</a:t>
            </a:r>
            <a:endParaRPr sz="17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98" name="Google Shape;98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80190" y="4313158"/>
            <a:ext cx="1134070" cy="1360884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15"/>
          <p:cNvSpPr/>
          <p:nvPr/>
        </p:nvSpPr>
        <p:spPr>
          <a:xfrm>
            <a:off x="7754422" y="4539972"/>
            <a:ext cx="3349347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5B5F71"/>
              </a:buClr>
              <a:buSzPts val="2200"/>
              <a:buFont typeface="Instrument Sans SemiBold"/>
              <a:buNone/>
            </a:pPr>
            <a:r>
              <a:rPr b="1" lang="en-US" sz="2200">
                <a:solidFill>
                  <a:srgbClr val="5B5F7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rPr>
              <a:t>Беспроводная передача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15"/>
          <p:cNvSpPr/>
          <p:nvPr/>
        </p:nvSpPr>
        <p:spPr>
          <a:xfrm>
            <a:off x="7754422" y="5030391"/>
            <a:ext cx="6082189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5B5F71"/>
              </a:buClr>
              <a:buSzPts val="1750"/>
              <a:buFont typeface="Instrument Sans Medium"/>
              <a:buNone/>
            </a:pPr>
            <a:r>
              <a:rPr lang="en-US" sz="1750">
                <a:solidFill>
                  <a:srgbClr val="5B5F7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rPr>
              <a:t>Больше нет проводов, которые мешают.</a:t>
            </a:r>
            <a:endParaRPr sz="17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01" name="Google Shape;101;p1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280190" y="5674042"/>
            <a:ext cx="1134070" cy="1360884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15"/>
          <p:cNvSpPr/>
          <p:nvPr/>
        </p:nvSpPr>
        <p:spPr>
          <a:xfrm>
            <a:off x="7754422" y="5900857"/>
            <a:ext cx="3275052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5B5F71"/>
              </a:buClr>
              <a:buSzPts val="2200"/>
              <a:buFont typeface="Instrument Sans SemiBold"/>
              <a:buNone/>
            </a:pPr>
            <a:r>
              <a:rPr b="1" lang="en-US" sz="2200">
                <a:solidFill>
                  <a:srgbClr val="5B5F7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rPr>
              <a:t>Высокое качество звука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15"/>
          <p:cNvSpPr/>
          <p:nvPr/>
        </p:nvSpPr>
        <p:spPr>
          <a:xfrm>
            <a:off x="7754422" y="6391275"/>
            <a:ext cx="6082189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5B5F71"/>
              </a:buClr>
              <a:buSzPts val="1750"/>
              <a:buFont typeface="Instrument Sans Medium"/>
              <a:buNone/>
            </a:pPr>
            <a:r>
              <a:rPr lang="en-US" sz="1750">
                <a:solidFill>
                  <a:srgbClr val="5B5F7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rPr>
              <a:t>Высокое качество передачи звука.</a:t>
            </a:r>
            <a:endParaRPr sz="17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4" name="Google Shape;104;p15"/>
          <p:cNvPicPr preferRelativeResize="0"/>
          <p:nvPr/>
        </p:nvPicPr>
        <p:blipFill rotWithShape="1">
          <a:blip r:embed="rId7">
            <a:alphaModFix/>
          </a:blip>
          <a:srcRect b="0" l="2840" r="13950" t="0"/>
          <a:stretch/>
        </p:blipFill>
        <p:spPr>
          <a:xfrm>
            <a:off x="-615" y="0"/>
            <a:ext cx="5486401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5"/>
          <p:cNvSpPr/>
          <p:nvPr/>
        </p:nvSpPr>
        <p:spPr>
          <a:xfrm>
            <a:off x="12587288" y="7543800"/>
            <a:ext cx="2043112" cy="685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6" name="Google Shape;106;p15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-614" y="0"/>
            <a:ext cx="5486400" cy="8229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12" name="Google Shape;112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144000" y="0"/>
            <a:ext cx="5486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113" name="Google Shape;113;p16"/>
          <p:cNvSpPr/>
          <p:nvPr/>
        </p:nvSpPr>
        <p:spPr>
          <a:xfrm>
            <a:off x="793790" y="1549003"/>
            <a:ext cx="6401872" cy="7087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505468"/>
              </a:buClr>
              <a:buSzPts val="4450"/>
              <a:buFont typeface="Instrument Sans SemiBold"/>
              <a:buNone/>
            </a:pPr>
            <a:r>
              <a:rPr b="1" lang="en-US" sz="4450">
                <a:solidFill>
                  <a:srgbClr val="505468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rPr>
              <a:t>Как работает имплант?</a:t>
            </a:r>
            <a:endParaRPr sz="44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14" name="Google Shape;114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93790" y="2597944"/>
            <a:ext cx="1134070" cy="1360884"/>
          </a:xfrm>
          <a:prstGeom prst="rect">
            <a:avLst/>
          </a:prstGeom>
          <a:noFill/>
          <a:ln>
            <a:noFill/>
          </a:ln>
        </p:spPr>
      </p:pic>
      <p:sp>
        <p:nvSpPr>
          <p:cNvPr id="115" name="Google Shape;115;p16"/>
          <p:cNvSpPr/>
          <p:nvPr/>
        </p:nvSpPr>
        <p:spPr>
          <a:xfrm>
            <a:off x="2268022" y="2824758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5B5F71"/>
              </a:buClr>
              <a:buSzPts val="2200"/>
              <a:buFont typeface="Instrument Sans SemiBold"/>
              <a:buNone/>
            </a:pPr>
            <a:r>
              <a:rPr b="1" lang="en-US" sz="2200">
                <a:solidFill>
                  <a:srgbClr val="5B5F7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rPr>
              <a:t>Внешний индуктор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16"/>
          <p:cNvSpPr/>
          <p:nvPr/>
        </p:nvSpPr>
        <p:spPr>
          <a:xfrm>
            <a:off x="2268022" y="3315176"/>
            <a:ext cx="6082189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5B5F71"/>
              </a:buClr>
              <a:buSzPts val="1750"/>
              <a:buFont typeface="Instrument Sans Medium"/>
              <a:buNone/>
            </a:pPr>
            <a:r>
              <a:rPr lang="en-US" sz="1750">
                <a:solidFill>
                  <a:srgbClr val="5B5F7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rPr>
              <a:t>Передает звуковой сигнал.</a:t>
            </a:r>
            <a:endParaRPr sz="17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17" name="Google Shape;117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93790" y="3958828"/>
            <a:ext cx="1134070" cy="1360884"/>
          </a:xfrm>
          <a:prstGeom prst="rect">
            <a:avLst/>
          </a:prstGeom>
          <a:noFill/>
          <a:ln>
            <a:noFill/>
          </a:ln>
        </p:spPr>
      </p:pic>
      <p:sp>
        <p:nvSpPr>
          <p:cNvPr id="118" name="Google Shape;118;p16"/>
          <p:cNvSpPr/>
          <p:nvPr/>
        </p:nvSpPr>
        <p:spPr>
          <a:xfrm>
            <a:off x="2268022" y="4185642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5B5F71"/>
              </a:buClr>
              <a:buSzPts val="2200"/>
              <a:buFont typeface="Instrument Sans SemiBold"/>
              <a:buNone/>
            </a:pPr>
            <a:r>
              <a:rPr b="1" lang="en-US" sz="2200">
                <a:solidFill>
                  <a:srgbClr val="5B5F7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rPr>
              <a:t>Магнитное поле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16"/>
          <p:cNvSpPr/>
          <p:nvPr/>
        </p:nvSpPr>
        <p:spPr>
          <a:xfrm>
            <a:off x="2268022" y="4676061"/>
            <a:ext cx="6082189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5B5F71"/>
              </a:buClr>
              <a:buSzPts val="1750"/>
              <a:buFont typeface="Instrument Sans Medium"/>
              <a:buNone/>
            </a:pPr>
            <a:r>
              <a:rPr lang="en-US" sz="1750">
                <a:solidFill>
                  <a:srgbClr val="5B5F7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rPr>
              <a:t>Звук передается через магнитное поле.</a:t>
            </a:r>
            <a:endParaRPr sz="17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20" name="Google Shape;120;p1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93790" y="5319713"/>
            <a:ext cx="1134070" cy="1360884"/>
          </a:xfrm>
          <a:prstGeom prst="rect">
            <a:avLst/>
          </a:prstGeom>
          <a:noFill/>
          <a:ln>
            <a:noFill/>
          </a:ln>
        </p:spPr>
      </p:pic>
      <p:sp>
        <p:nvSpPr>
          <p:cNvPr id="121" name="Google Shape;121;p16"/>
          <p:cNvSpPr/>
          <p:nvPr/>
        </p:nvSpPr>
        <p:spPr>
          <a:xfrm>
            <a:off x="2268022" y="5546527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5B5F71"/>
              </a:buClr>
              <a:buSzPts val="2200"/>
              <a:buFont typeface="Instrument Sans SemiBold"/>
              <a:buNone/>
            </a:pPr>
            <a:r>
              <a:rPr b="1" lang="en-US" sz="2200">
                <a:solidFill>
                  <a:srgbClr val="5B5F7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rPr>
              <a:t>Катушка импланта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16"/>
          <p:cNvSpPr/>
          <p:nvPr/>
        </p:nvSpPr>
        <p:spPr>
          <a:xfrm>
            <a:off x="2268022" y="6036945"/>
            <a:ext cx="6082189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5B5F71"/>
              </a:buClr>
              <a:buSzPts val="1750"/>
              <a:buFont typeface="Instrument Sans Medium"/>
              <a:buNone/>
            </a:pPr>
            <a:r>
              <a:rPr lang="en-US" sz="1750">
                <a:solidFill>
                  <a:srgbClr val="5B5F7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rPr>
              <a:t>Принимает сигнал и передает его.</a:t>
            </a:r>
            <a:endParaRPr sz="17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3" name="Google Shape;123;p1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676092" y="8365688"/>
            <a:ext cx="6935816" cy="38347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29" name="Google Shape;129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144000" y="0"/>
            <a:ext cx="5486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130" name="Google Shape;130;p17"/>
          <p:cNvSpPr/>
          <p:nvPr/>
        </p:nvSpPr>
        <p:spPr>
          <a:xfrm>
            <a:off x="793790" y="1556266"/>
            <a:ext cx="7556421" cy="21263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505468"/>
              </a:buClr>
              <a:buSzPts val="4450"/>
              <a:buFont typeface="Instrument Sans SemiBold"/>
              <a:buNone/>
            </a:pPr>
            <a:r>
              <a:rPr b="1" lang="en-US" sz="4450">
                <a:solidFill>
                  <a:srgbClr val="505468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rPr>
              <a:t>Наша инновационная модель беспроводного индуктора</a:t>
            </a:r>
            <a:endParaRPr sz="44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17"/>
          <p:cNvSpPr/>
          <p:nvPr/>
        </p:nvSpPr>
        <p:spPr>
          <a:xfrm>
            <a:off x="793790" y="4022765"/>
            <a:ext cx="1259324" cy="807958"/>
          </a:xfrm>
          <a:prstGeom prst="roundRect">
            <a:avLst>
              <a:gd fmla="val 11791" name="adj"/>
            </a:avLst>
          </a:prstGeom>
          <a:solidFill>
            <a:srgbClr val="E2E3E9"/>
          </a:solidFill>
          <a:ln cap="flat" cmpd="sng" w="9525">
            <a:solidFill>
              <a:srgbClr val="C8C9C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p17"/>
          <p:cNvSpPr/>
          <p:nvPr/>
        </p:nvSpPr>
        <p:spPr>
          <a:xfrm>
            <a:off x="1263967" y="4227433"/>
            <a:ext cx="318968" cy="3986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5B5F71"/>
              </a:buClr>
              <a:buSzPts val="2500"/>
              <a:buFont typeface="Instrument Sans SemiBold"/>
              <a:buNone/>
            </a:pPr>
            <a:r>
              <a:rPr b="1" lang="en-US" sz="2500">
                <a:solidFill>
                  <a:srgbClr val="5B5F7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rPr>
              <a:t>1</a:t>
            </a:r>
            <a:endParaRPr sz="2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17"/>
          <p:cNvSpPr/>
          <p:nvPr/>
        </p:nvSpPr>
        <p:spPr>
          <a:xfrm>
            <a:off x="2166461" y="4815483"/>
            <a:ext cx="6070402" cy="15240"/>
          </a:xfrm>
          <a:prstGeom prst="roundRect">
            <a:avLst>
              <a:gd fmla="val 625116" name="adj"/>
            </a:avLst>
          </a:prstGeom>
          <a:solidFill>
            <a:srgbClr val="C8C9C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p17"/>
          <p:cNvSpPr/>
          <p:nvPr/>
        </p:nvSpPr>
        <p:spPr>
          <a:xfrm>
            <a:off x="793730" y="5007573"/>
            <a:ext cx="2518767" cy="898458"/>
          </a:xfrm>
          <a:prstGeom prst="roundRect">
            <a:avLst>
              <a:gd fmla="val 11791" name="adj"/>
            </a:avLst>
          </a:prstGeom>
          <a:solidFill>
            <a:srgbClr val="E2E3E9"/>
          </a:solidFill>
          <a:ln cap="flat" cmpd="sng" w="9525">
            <a:solidFill>
              <a:srgbClr val="C8C9C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17"/>
          <p:cNvSpPr/>
          <p:nvPr/>
        </p:nvSpPr>
        <p:spPr>
          <a:xfrm>
            <a:off x="1893689" y="5182494"/>
            <a:ext cx="318968" cy="3986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5B5F71"/>
              </a:buClr>
              <a:buSzPts val="2500"/>
              <a:buFont typeface="Instrument Sans SemiBold"/>
              <a:buNone/>
            </a:pPr>
            <a:r>
              <a:rPr b="1" lang="en-US" sz="2500">
                <a:solidFill>
                  <a:srgbClr val="5B5F7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rPr>
              <a:t>2</a:t>
            </a:r>
            <a:endParaRPr sz="2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17"/>
          <p:cNvSpPr/>
          <p:nvPr/>
        </p:nvSpPr>
        <p:spPr>
          <a:xfrm>
            <a:off x="3425905" y="5915678"/>
            <a:ext cx="4810958" cy="15240"/>
          </a:xfrm>
          <a:prstGeom prst="roundRect">
            <a:avLst>
              <a:gd fmla="val 625116" name="adj"/>
            </a:avLst>
          </a:prstGeom>
          <a:solidFill>
            <a:srgbClr val="C8C9C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p17"/>
          <p:cNvSpPr/>
          <p:nvPr/>
        </p:nvSpPr>
        <p:spPr>
          <a:xfrm>
            <a:off x="793730" y="6080951"/>
            <a:ext cx="3778210" cy="1200329"/>
          </a:xfrm>
          <a:prstGeom prst="roundRect">
            <a:avLst>
              <a:gd fmla="val 11791" name="adj"/>
            </a:avLst>
          </a:prstGeom>
          <a:solidFill>
            <a:srgbClr val="E2E3E9"/>
          </a:solidFill>
          <a:ln cap="flat" cmpd="sng" w="9525">
            <a:solidFill>
              <a:srgbClr val="C8C9C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p17"/>
          <p:cNvSpPr/>
          <p:nvPr/>
        </p:nvSpPr>
        <p:spPr>
          <a:xfrm>
            <a:off x="2523411" y="6374798"/>
            <a:ext cx="318968" cy="3986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5B5F71"/>
              </a:buClr>
              <a:buSzPts val="2500"/>
              <a:buFont typeface="Instrument Sans SemiBold"/>
              <a:buNone/>
            </a:pPr>
            <a:r>
              <a:rPr b="1" lang="en-US" sz="2500">
                <a:solidFill>
                  <a:srgbClr val="5B5F7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rPr>
              <a:t>3</a:t>
            </a:r>
            <a:endParaRPr sz="2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17"/>
          <p:cNvSpPr txBox="1"/>
          <p:nvPr/>
        </p:nvSpPr>
        <p:spPr>
          <a:xfrm>
            <a:off x="2053114" y="4034374"/>
            <a:ext cx="7256319" cy="9233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5B5F7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rPr>
              <a:t>Компактность — устройство не мешает, легко встраивается в корпус и незаметно при использовании </a:t>
            </a:r>
            <a:endParaRPr b="1" sz="1800">
              <a:solidFill>
                <a:schemeClr val="dk1"/>
              </a:solidFill>
              <a:latin typeface="Instrument Sans SemiBold"/>
              <a:ea typeface="Instrument Sans SemiBold"/>
              <a:cs typeface="Instrument Sans SemiBold"/>
              <a:sym typeface="Instrument Sans SemiBold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17"/>
          <p:cNvSpPr txBox="1"/>
          <p:nvPr/>
        </p:nvSpPr>
        <p:spPr>
          <a:xfrm>
            <a:off x="3369288" y="4903591"/>
            <a:ext cx="5718096" cy="12003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5B5F7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rPr>
              <a:t>Высокая эффективность — индуктор стабильно передаёт звук, обеспечивая чистоту сигнала без задержек. </a:t>
            </a:r>
            <a:endParaRPr b="1" sz="1800">
              <a:solidFill>
                <a:schemeClr val="dk1"/>
              </a:solidFill>
              <a:latin typeface="Instrument Sans SemiBold"/>
              <a:ea typeface="Instrument Sans SemiBold"/>
              <a:cs typeface="Instrument Sans SemiBold"/>
              <a:sym typeface="Instrument Sans SemiBold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17"/>
          <p:cNvSpPr txBox="1"/>
          <p:nvPr/>
        </p:nvSpPr>
        <p:spPr>
          <a:xfrm>
            <a:off x="4571940" y="6115614"/>
            <a:ext cx="4572060" cy="14773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5B5F7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rPr>
              <a:t>Надежность— благодаря беспроводной архитектуре исключаются поломки, связанные с проводами, разъёмами или механическим износом.</a:t>
            </a:r>
            <a:endParaRPr b="1" sz="1800">
              <a:solidFill>
                <a:schemeClr val="dk1"/>
              </a:solidFill>
              <a:latin typeface="Instrument Sans SemiBold"/>
              <a:ea typeface="Instrument Sans SemiBold"/>
              <a:cs typeface="Instrument Sans SemiBold"/>
              <a:sym typeface="Instrument Sans SemiBold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8"/>
          <p:cNvSpPr/>
          <p:nvPr/>
        </p:nvSpPr>
        <p:spPr>
          <a:xfrm>
            <a:off x="6280190" y="625793"/>
            <a:ext cx="7556421" cy="113395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352"/>
              </a:lnSpc>
              <a:spcBef>
                <a:spcPts val="0"/>
              </a:spcBef>
              <a:spcAft>
                <a:spcPts val="0"/>
              </a:spcAft>
              <a:buClr>
                <a:srgbClr val="505468"/>
              </a:buClr>
              <a:buSzPts val="3550"/>
              <a:buFont typeface="Instrument Sans SemiBold"/>
              <a:buNone/>
            </a:pPr>
            <a:r>
              <a:rPr b="1" lang="en-US" sz="3550">
                <a:solidFill>
                  <a:srgbClr val="505468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rPr>
              <a:t>Технические особенности: Ключевые параметры индуктора</a:t>
            </a:r>
            <a:endParaRPr sz="35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18"/>
          <p:cNvSpPr/>
          <p:nvPr/>
        </p:nvSpPr>
        <p:spPr>
          <a:xfrm>
            <a:off x="6280190" y="2031921"/>
            <a:ext cx="7556421" cy="1060728"/>
          </a:xfrm>
          <a:prstGeom prst="roundRect">
            <a:avLst>
              <a:gd fmla="val 7185" name="adj"/>
            </a:avLst>
          </a:prstGeom>
          <a:solidFill>
            <a:srgbClr val="E2E3E9"/>
          </a:solidFill>
          <a:ln cap="flat" cmpd="sng" w="9525">
            <a:solidFill>
              <a:srgbClr val="C8C9C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p18"/>
          <p:cNvSpPr/>
          <p:nvPr/>
        </p:nvSpPr>
        <p:spPr>
          <a:xfrm>
            <a:off x="6469261" y="2220992"/>
            <a:ext cx="2491383" cy="2834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714"/>
              </a:lnSpc>
              <a:spcBef>
                <a:spcPts val="0"/>
              </a:spcBef>
              <a:spcAft>
                <a:spcPts val="0"/>
              </a:spcAft>
              <a:buClr>
                <a:srgbClr val="5B5F71"/>
              </a:buClr>
              <a:buSzPts val="1750"/>
              <a:buFont typeface="Instrument Sans SemiBold"/>
              <a:buNone/>
            </a:pPr>
            <a:r>
              <a:rPr b="1" lang="en-US" sz="1750">
                <a:solidFill>
                  <a:srgbClr val="5B5F7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rPr>
              <a:t>Спиральный индуктор</a:t>
            </a:r>
            <a:endParaRPr sz="17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18"/>
          <p:cNvSpPr/>
          <p:nvPr/>
        </p:nvSpPr>
        <p:spPr>
          <a:xfrm>
            <a:off x="6469261" y="2613303"/>
            <a:ext cx="7178278" cy="29027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714"/>
              </a:lnSpc>
              <a:spcBef>
                <a:spcPts val="0"/>
              </a:spcBef>
              <a:spcAft>
                <a:spcPts val="0"/>
              </a:spcAft>
              <a:buClr>
                <a:srgbClr val="5B5F71"/>
              </a:buClr>
              <a:buSzPts val="1400"/>
              <a:buFont typeface="Instrument Sans Medium"/>
              <a:buNone/>
            </a:pPr>
            <a:r>
              <a:rPr lang="en-US" sz="1400">
                <a:solidFill>
                  <a:srgbClr val="5B5F7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rPr>
              <a:t>Эффективная передача энергии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18"/>
          <p:cNvSpPr/>
          <p:nvPr/>
        </p:nvSpPr>
        <p:spPr>
          <a:xfrm>
            <a:off x="6280190" y="3274100"/>
            <a:ext cx="7556421" cy="1060728"/>
          </a:xfrm>
          <a:prstGeom prst="roundRect">
            <a:avLst>
              <a:gd fmla="val 7185" name="adj"/>
            </a:avLst>
          </a:prstGeom>
          <a:solidFill>
            <a:srgbClr val="E2E3E9"/>
          </a:solidFill>
          <a:ln cap="flat" cmpd="sng" w="9525">
            <a:solidFill>
              <a:srgbClr val="C8C9C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p18"/>
          <p:cNvSpPr/>
          <p:nvPr/>
        </p:nvSpPr>
        <p:spPr>
          <a:xfrm>
            <a:off x="6469261" y="3463171"/>
            <a:ext cx="2268260" cy="2834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714"/>
              </a:lnSpc>
              <a:spcBef>
                <a:spcPts val="0"/>
              </a:spcBef>
              <a:spcAft>
                <a:spcPts val="0"/>
              </a:spcAft>
              <a:buClr>
                <a:srgbClr val="5B5F71"/>
              </a:buClr>
              <a:buSzPts val="1750"/>
              <a:buFont typeface="Instrument Sans SemiBold"/>
              <a:buNone/>
            </a:pPr>
            <a:r>
              <a:rPr b="1" lang="en-US" sz="1750">
                <a:solidFill>
                  <a:srgbClr val="5B5F7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rPr>
              <a:t>FR4, медь 35 мкм</a:t>
            </a:r>
            <a:endParaRPr sz="17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18"/>
          <p:cNvSpPr/>
          <p:nvPr/>
        </p:nvSpPr>
        <p:spPr>
          <a:xfrm>
            <a:off x="6469261" y="3855482"/>
            <a:ext cx="7178278" cy="29027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714"/>
              </a:lnSpc>
              <a:spcBef>
                <a:spcPts val="0"/>
              </a:spcBef>
              <a:spcAft>
                <a:spcPts val="0"/>
              </a:spcAft>
              <a:buClr>
                <a:srgbClr val="5B5F71"/>
              </a:buClr>
              <a:buSzPts val="1400"/>
              <a:buFont typeface="Instrument Sans Medium"/>
              <a:buNone/>
            </a:pPr>
            <a:r>
              <a:rPr lang="en-US" sz="1400">
                <a:solidFill>
                  <a:srgbClr val="5B5F7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rPr>
              <a:t>Надежные материалы платы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18"/>
          <p:cNvSpPr/>
          <p:nvPr/>
        </p:nvSpPr>
        <p:spPr>
          <a:xfrm>
            <a:off x="6280190" y="4516279"/>
            <a:ext cx="7556421" cy="1060728"/>
          </a:xfrm>
          <a:prstGeom prst="roundRect">
            <a:avLst>
              <a:gd fmla="val 7185" name="adj"/>
            </a:avLst>
          </a:prstGeom>
          <a:solidFill>
            <a:srgbClr val="E2E3E9"/>
          </a:solidFill>
          <a:ln cap="flat" cmpd="sng" w="9525">
            <a:solidFill>
              <a:srgbClr val="C8C9C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p18"/>
          <p:cNvSpPr/>
          <p:nvPr/>
        </p:nvSpPr>
        <p:spPr>
          <a:xfrm>
            <a:off x="6469261" y="4705350"/>
            <a:ext cx="2268260" cy="2834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714"/>
              </a:lnSpc>
              <a:spcBef>
                <a:spcPts val="0"/>
              </a:spcBef>
              <a:spcAft>
                <a:spcPts val="0"/>
              </a:spcAft>
              <a:buClr>
                <a:srgbClr val="5B5F71"/>
              </a:buClr>
              <a:buSzPts val="1750"/>
              <a:buFont typeface="Instrument Sans SemiBold"/>
              <a:buNone/>
            </a:pPr>
            <a:r>
              <a:rPr b="1" lang="en-US" sz="1750">
                <a:solidFill>
                  <a:srgbClr val="5B5F7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rPr>
              <a:t>~5.1 мГн</a:t>
            </a:r>
            <a:endParaRPr sz="17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18"/>
          <p:cNvSpPr/>
          <p:nvPr/>
        </p:nvSpPr>
        <p:spPr>
          <a:xfrm>
            <a:off x="6469261" y="5097661"/>
            <a:ext cx="7178278" cy="29027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714"/>
              </a:lnSpc>
              <a:spcBef>
                <a:spcPts val="0"/>
              </a:spcBef>
              <a:spcAft>
                <a:spcPts val="0"/>
              </a:spcAft>
              <a:buClr>
                <a:srgbClr val="5B5F71"/>
              </a:buClr>
              <a:buSzPts val="1400"/>
              <a:buFont typeface="Instrument Sans Medium"/>
              <a:buNone/>
            </a:pPr>
            <a:r>
              <a:rPr lang="en-US" sz="1400">
                <a:solidFill>
                  <a:srgbClr val="5B5F7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rPr>
              <a:t>Оптимальная индуктивность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18"/>
          <p:cNvSpPr/>
          <p:nvPr/>
        </p:nvSpPr>
        <p:spPr>
          <a:xfrm>
            <a:off x="6280190" y="5758458"/>
            <a:ext cx="7556421" cy="1060728"/>
          </a:xfrm>
          <a:prstGeom prst="roundRect">
            <a:avLst>
              <a:gd fmla="val 7185" name="adj"/>
            </a:avLst>
          </a:prstGeom>
          <a:solidFill>
            <a:srgbClr val="E2E3E9"/>
          </a:solidFill>
          <a:ln cap="flat" cmpd="sng" w="9525">
            <a:solidFill>
              <a:srgbClr val="C8C9C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p18"/>
          <p:cNvSpPr/>
          <p:nvPr/>
        </p:nvSpPr>
        <p:spPr>
          <a:xfrm>
            <a:off x="6469261" y="5947529"/>
            <a:ext cx="2268260" cy="2834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714"/>
              </a:lnSpc>
              <a:spcBef>
                <a:spcPts val="0"/>
              </a:spcBef>
              <a:spcAft>
                <a:spcPts val="0"/>
              </a:spcAft>
              <a:buClr>
                <a:srgbClr val="5B5F71"/>
              </a:buClr>
              <a:buSzPts val="1750"/>
              <a:buFont typeface="Instrument Sans SemiBold"/>
              <a:buNone/>
            </a:pPr>
            <a:r>
              <a:rPr b="1" lang="en-US" sz="1750">
                <a:solidFill>
                  <a:srgbClr val="5B5F7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rPr>
              <a:t>50 Гц-10 кГц</a:t>
            </a:r>
            <a:endParaRPr sz="17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18"/>
          <p:cNvSpPr/>
          <p:nvPr/>
        </p:nvSpPr>
        <p:spPr>
          <a:xfrm>
            <a:off x="6469261" y="6339840"/>
            <a:ext cx="7178278" cy="29027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714"/>
              </a:lnSpc>
              <a:spcBef>
                <a:spcPts val="0"/>
              </a:spcBef>
              <a:spcAft>
                <a:spcPts val="0"/>
              </a:spcAft>
              <a:buClr>
                <a:srgbClr val="5B5F71"/>
              </a:buClr>
              <a:buSzPts val="1400"/>
              <a:buFont typeface="Instrument Sans Medium"/>
              <a:buNone/>
            </a:pPr>
            <a:r>
              <a:rPr lang="en-US" sz="1400">
                <a:solidFill>
                  <a:srgbClr val="5B5F7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rPr>
              <a:t>Рабочий диапазон частот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18"/>
          <p:cNvSpPr/>
          <p:nvPr/>
        </p:nvSpPr>
        <p:spPr>
          <a:xfrm>
            <a:off x="6280190" y="7023259"/>
            <a:ext cx="7556421" cy="5805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714"/>
              </a:lnSpc>
              <a:spcBef>
                <a:spcPts val="0"/>
              </a:spcBef>
              <a:spcAft>
                <a:spcPts val="0"/>
              </a:spcAft>
              <a:buClr>
                <a:srgbClr val="5B5F71"/>
              </a:buClr>
              <a:buSzPts val="1400"/>
              <a:buFont typeface="Instrument Sans Medium"/>
              <a:buNone/>
            </a:pPr>
            <a:r>
              <a:rPr lang="en-US" sz="1400">
                <a:solidFill>
                  <a:srgbClr val="5B5F7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rPr>
              <a:t>Компактный беспроводной индуктор. Он обеспечивает минимальные потери. Равномерное магнитное поле гарантирует передачу сигнала.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61" name="Google Shape;161;p18"/>
          <p:cNvPicPr preferRelativeResize="0"/>
          <p:nvPr/>
        </p:nvPicPr>
        <p:blipFill rotWithShape="1">
          <a:blip r:embed="rId3">
            <a:alphaModFix/>
          </a:blip>
          <a:srcRect b="0" l="9916" r="4141" t="35268"/>
          <a:stretch/>
        </p:blipFill>
        <p:spPr>
          <a:xfrm>
            <a:off x="122781" y="778757"/>
            <a:ext cx="6062873" cy="445333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2" name="Google Shape;162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22781" y="5306964"/>
            <a:ext cx="1899351" cy="2356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3" name="Google Shape;163;p18"/>
          <p:cNvPicPr preferRelativeResize="0"/>
          <p:nvPr/>
        </p:nvPicPr>
        <p:blipFill rotWithShape="1">
          <a:blip r:embed="rId5">
            <a:alphaModFix/>
          </a:blip>
          <a:srcRect b="3593" l="53849" r="13728" t="76907"/>
          <a:stretch/>
        </p:blipFill>
        <p:spPr>
          <a:xfrm>
            <a:off x="3249414" y="5308420"/>
            <a:ext cx="2936240" cy="2354569"/>
          </a:xfrm>
          <a:prstGeom prst="rect">
            <a:avLst/>
          </a:prstGeom>
          <a:noFill/>
          <a:ln>
            <a:noFill/>
          </a:ln>
        </p:spPr>
      </p:pic>
      <p:sp>
        <p:nvSpPr>
          <p:cNvPr id="164" name="Google Shape;164;p18"/>
          <p:cNvSpPr/>
          <p:nvPr/>
        </p:nvSpPr>
        <p:spPr>
          <a:xfrm>
            <a:off x="12587288" y="7543800"/>
            <a:ext cx="2043112" cy="685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19"/>
          <p:cNvSpPr/>
          <p:nvPr/>
        </p:nvSpPr>
        <p:spPr>
          <a:xfrm>
            <a:off x="793790" y="1860947"/>
            <a:ext cx="5670590" cy="7087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505468"/>
              </a:buClr>
              <a:buSzPts val="4450"/>
              <a:buFont typeface="Instrument Sans SemiBold"/>
              <a:buNone/>
            </a:pPr>
            <a:r>
              <a:rPr b="1" lang="en-US" sz="4450">
                <a:solidFill>
                  <a:srgbClr val="505468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rPr>
              <a:t>Возможные риски</a:t>
            </a:r>
            <a:endParaRPr sz="44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19"/>
          <p:cNvSpPr/>
          <p:nvPr/>
        </p:nvSpPr>
        <p:spPr>
          <a:xfrm>
            <a:off x="793790" y="3023354"/>
            <a:ext cx="3260646" cy="1306949"/>
          </a:xfrm>
          <a:prstGeom prst="roundRect">
            <a:avLst>
              <a:gd fmla="val 7289" name="adj"/>
            </a:avLst>
          </a:prstGeom>
          <a:solidFill>
            <a:srgbClr val="E2E3E9"/>
          </a:solidFill>
          <a:ln cap="flat" cmpd="sng" w="9525">
            <a:solidFill>
              <a:srgbClr val="C8C9C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p19"/>
          <p:cNvSpPr/>
          <p:nvPr/>
        </p:nvSpPr>
        <p:spPr>
          <a:xfrm>
            <a:off x="2264569" y="3477458"/>
            <a:ext cx="318968" cy="3986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5B5F71"/>
              </a:buClr>
              <a:buSzPts val="2500"/>
              <a:buFont typeface="Instrument Sans SemiBold"/>
              <a:buNone/>
            </a:pPr>
            <a:r>
              <a:rPr b="1" lang="en-US" sz="2500">
                <a:solidFill>
                  <a:srgbClr val="5B5F7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rPr>
              <a:t>1</a:t>
            </a:r>
            <a:endParaRPr sz="2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19"/>
          <p:cNvSpPr/>
          <p:nvPr/>
        </p:nvSpPr>
        <p:spPr>
          <a:xfrm>
            <a:off x="4281249" y="3250168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5B5F71"/>
              </a:buClr>
              <a:buSzPts val="2200"/>
              <a:buFont typeface="Instrument Sans SemiBold"/>
              <a:buNone/>
            </a:pPr>
            <a:r>
              <a:rPr b="1" lang="en-US" sz="2200">
                <a:solidFill>
                  <a:srgbClr val="5B5F7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rPr>
              <a:t>Помехи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19"/>
          <p:cNvSpPr/>
          <p:nvPr/>
        </p:nvSpPr>
        <p:spPr>
          <a:xfrm>
            <a:off x="4281249" y="3740587"/>
            <a:ext cx="4356259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5B5F71"/>
              </a:buClr>
              <a:buSzPts val="1750"/>
              <a:buFont typeface="Instrument Sans Medium"/>
              <a:buNone/>
            </a:pPr>
            <a:r>
              <a:rPr lang="en-US" sz="1750">
                <a:solidFill>
                  <a:srgbClr val="5B5F7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rPr>
              <a:t>Возможны помехи на высоких частотах</a:t>
            </a:r>
            <a:endParaRPr sz="17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19"/>
          <p:cNvSpPr/>
          <p:nvPr/>
        </p:nvSpPr>
        <p:spPr>
          <a:xfrm>
            <a:off x="4167783" y="4315063"/>
            <a:ext cx="9555480" cy="15240"/>
          </a:xfrm>
          <a:prstGeom prst="roundRect">
            <a:avLst>
              <a:gd fmla="val 625116" name="adj"/>
            </a:avLst>
          </a:prstGeom>
          <a:solidFill>
            <a:srgbClr val="C8C9C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" name="Google Shape;176;p19"/>
          <p:cNvSpPr/>
          <p:nvPr/>
        </p:nvSpPr>
        <p:spPr>
          <a:xfrm>
            <a:off x="793790" y="4443651"/>
            <a:ext cx="6521410" cy="1306949"/>
          </a:xfrm>
          <a:prstGeom prst="roundRect">
            <a:avLst>
              <a:gd fmla="val 7289" name="adj"/>
            </a:avLst>
          </a:prstGeom>
          <a:solidFill>
            <a:srgbClr val="E2E3E9"/>
          </a:solidFill>
          <a:ln cap="flat" cmpd="sng" w="9525">
            <a:solidFill>
              <a:srgbClr val="C8C9C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" name="Google Shape;177;p19"/>
          <p:cNvSpPr/>
          <p:nvPr/>
        </p:nvSpPr>
        <p:spPr>
          <a:xfrm>
            <a:off x="3895011" y="4897755"/>
            <a:ext cx="318968" cy="3986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5B5F71"/>
              </a:buClr>
              <a:buSzPts val="2500"/>
              <a:buFont typeface="Instrument Sans SemiBold"/>
              <a:buNone/>
            </a:pPr>
            <a:r>
              <a:rPr b="1" lang="en-US" sz="2500">
                <a:solidFill>
                  <a:srgbClr val="5B5F7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rPr>
              <a:t>2</a:t>
            </a:r>
            <a:endParaRPr sz="2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19"/>
          <p:cNvSpPr/>
          <p:nvPr/>
        </p:nvSpPr>
        <p:spPr>
          <a:xfrm>
            <a:off x="7542014" y="4670465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5B5F71"/>
              </a:buClr>
              <a:buSzPts val="2200"/>
              <a:buFont typeface="Instrument Sans SemiBold"/>
              <a:buNone/>
            </a:pPr>
            <a:r>
              <a:rPr b="1" lang="en-US" sz="2200">
                <a:solidFill>
                  <a:srgbClr val="5B5F7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rPr>
              <a:t>Контроль качества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19"/>
          <p:cNvSpPr/>
          <p:nvPr/>
        </p:nvSpPr>
        <p:spPr>
          <a:xfrm>
            <a:off x="7542014" y="5160883"/>
            <a:ext cx="5781675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5B5F71"/>
              </a:buClr>
              <a:buSzPts val="1750"/>
              <a:buFont typeface="Instrument Sans Medium"/>
              <a:buNone/>
            </a:pPr>
            <a:r>
              <a:rPr lang="en-US" sz="1750">
                <a:solidFill>
                  <a:srgbClr val="5B5F7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rPr>
              <a:t>Требуется строгий контроль качества тестирования.</a:t>
            </a:r>
            <a:endParaRPr sz="17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19"/>
          <p:cNvSpPr/>
          <p:nvPr/>
        </p:nvSpPr>
        <p:spPr>
          <a:xfrm>
            <a:off x="793790" y="6005751"/>
            <a:ext cx="13042821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5B5F71"/>
              </a:buClr>
              <a:buSzPts val="1750"/>
              <a:buFont typeface="Instrument Sans Medium"/>
              <a:buNone/>
            </a:pPr>
            <a:r>
              <a:rPr lang="en-US" sz="1750">
                <a:solidFill>
                  <a:srgbClr val="5B5F7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rPr>
              <a:t>Важно учитывать технические риски. Для минимизации рисков требуется строгий контроль качества производства.</a:t>
            </a:r>
            <a:endParaRPr sz="17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19"/>
          <p:cNvSpPr/>
          <p:nvPr/>
        </p:nvSpPr>
        <p:spPr>
          <a:xfrm>
            <a:off x="12587288" y="7543800"/>
            <a:ext cx="2043112" cy="685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20"/>
          <p:cNvSpPr/>
          <p:nvPr/>
        </p:nvSpPr>
        <p:spPr>
          <a:xfrm>
            <a:off x="142876" y="3320951"/>
            <a:ext cx="14959013" cy="15876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8420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5760">
                <a:solidFill>
                  <a:srgbClr val="505468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rPr>
              <a:t>Спасибо за внимание!</a:t>
            </a:r>
            <a:endParaRPr sz="576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20"/>
          <p:cNvSpPr/>
          <p:nvPr/>
        </p:nvSpPr>
        <p:spPr>
          <a:xfrm>
            <a:off x="1400295" y="-2035730"/>
            <a:ext cx="7600712" cy="15876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129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50">
                <a:solidFill>
                  <a:srgbClr val="5B5F7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rPr>
              <a:t>Представляем инновационную разработку в области бионического протезирования, направленную на улучшение качества жизни людей с ампутацией верхних конечностей. Данное программно-аппаратное решение представляет собой комплексный подход к созданию функционального протеза кисти руки с симметричным управлением.</a:t>
            </a:r>
            <a:endParaRPr sz="15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20"/>
          <p:cNvSpPr/>
          <p:nvPr/>
        </p:nvSpPr>
        <p:spPr>
          <a:xfrm>
            <a:off x="1243132" y="-3457337"/>
            <a:ext cx="7600712" cy="127015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129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50">
                <a:solidFill>
                  <a:srgbClr val="5B5F7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rPr>
              <a:t>Проект основан на передовых технологиях проектирования систем управления и электромеханических компонентов, интегрированных в эргономичный протез, повторяющий естественные движения человеческой руки.</a:t>
            </a:r>
            <a:endParaRPr sz="15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20"/>
          <p:cNvSpPr/>
          <p:nvPr/>
        </p:nvSpPr>
        <p:spPr>
          <a:xfrm>
            <a:off x="12566112" y="7633932"/>
            <a:ext cx="2064289" cy="595669"/>
          </a:xfrm>
          <a:prstGeom prst="rect">
            <a:avLst/>
          </a:prstGeom>
          <a:solidFill>
            <a:srgbClr val="F8F8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6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20"/>
          <p:cNvSpPr/>
          <p:nvPr/>
        </p:nvSpPr>
        <p:spPr>
          <a:xfrm>
            <a:off x="456518" y="4842354"/>
            <a:ext cx="9067705" cy="43548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Никитин Даниил Константинович, </a:t>
            </a:r>
            <a:endParaRPr sz="21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20"/>
          <p:cNvSpPr/>
          <p:nvPr/>
        </p:nvSpPr>
        <p:spPr>
          <a:xfrm>
            <a:off x="456518" y="5584019"/>
            <a:ext cx="9067705" cy="43548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411480" lvl="0" marL="41148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4A4A45"/>
              </a:buClr>
              <a:buSzPts val="2100"/>
              <a:buFont typeface="Lato"/>
              <a:buChar char="•"/>
            </a:pPr>
            <a:r>
              <a:rPr lang="en-US" sz="2100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Телефон 8 977 336 81 26</a:t>
            </a:r>
            <a:endParaRPr sz="21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20"/>
          <p:cNvSpPr/>
          <p:nvPr/>
        </p:nvSpPr>
        <p:spPr>
          <a:xfrm>
            <a:off x="456518" y="6114657"/>
            <a:ext cx="9067705" cy="43548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411480" lvl="0" marL="41148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4A4A45"/>
              </a:buClr>
              <a:buSzPts val="2100"/>
              <a:buFont typeface="Lato"/>
              <a:buChar char="•"/>
            </a:pPr>
            <a:r>
              <a:rPr lang="en-US" sz="2100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Электронная почта </a:t>
            </a:r>
            <a:r>
              <a:rPr lang="en-US" sz="2100" u="sng">
                <a:solidFill>
                  <a:schemeClr val="hlink"/>
                </a:solidFill>
                <a:latin typeface="Lato"/>
                <a:ea typeface="Lato"/>
                <a:cs typeface="Lato"/>
                <a:sym typeface="Lato"/>
                <a:hlinkClick r:id="rId3"/>
              </a:rPr>
              <a:t>donnik10072002@gmail.com</a:t>
            </a:r>
            <a:endParaRPr sz="21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94" name="Google Shape;194;p20"/>
          <p:cNvPicPr preferRelativeResize="0"/>
          <p:nvPr/>
        </p:nvPicPr>
        <p:blipFill rotWithShape="1">
          <a:blip r:embed="rId4">
            <a:alphaModFix/>
          </a:blip>
          <a:srcRect b="24317" l="18179" r="18634" t="37422"/>
          <a:stretch/>
        </p:blipFill>
        <p:spPr>
          <a:xfrm>
            <a:off x="7142221" y="4908650"/>
            <a:ext cx="1858786" cy="2159346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