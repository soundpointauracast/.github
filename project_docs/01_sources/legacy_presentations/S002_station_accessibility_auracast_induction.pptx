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797675" cy="987425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Arial Black"/>
      <p:regular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58">
          <p15:clr>
            <a:srgbClr val="A4A3A4"/>
          </p15:clr>
        </p15:guide>
        <p15:guide id="4" pos="5502">
          <p15:clr>
            <a:srgbClr val="A4A3A4"/>
          </p15:clr>
        </p15:guide>
        <p15:guide id="5" orient="horz" pos="3021">
          <p15:clr>
            <a:srgbClr val="A4A3A4"/>
          </p15:clr>
        </p15:guide>
        <p15:guide id="6" orient="horz" pos="219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orient="horz" pos="3110">
          <p15:clr>
            <a:srgbClr val="A4A3A4"/>
          </p15:clr>
        </p15:guide>
        <p15:guide id="3" pos="2160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58"/>
        <p:guide pos="5502"/>
        <p:guide pos="3021" orient="horz"/>
        <p:guide pos="219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3110" orient="horz"/>
        <p:guide pos="2160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765" cy="494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640" y="0"/>
            <a:ext cx="2945765" cy="494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5765" cy="4933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640" y="9378950"/>
            <a:ext cx="2945765" cy="4933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107950" y="741363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50640" y="9378950"/>
            <a:ext cx="2945765" cy="4933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4e0d3a702_3_1:notes"/>
          <p:cNvSpPr/>
          <p:nvPr>
            <p:ph idx="2" type="sldImg"/>
          </p:nvPr>
        </p:nvSpPr>
        <p:spPr>
          <a:xfrm>
            <a:off x="107950" y="741680"/>
            <a:ext cx="6581700" cy="370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4e0d3a702_3_1:notes"/>
          <p:cNvSpPr txBox="1"/>
          <p:nvPr>
            <p:ph idx="1" type="body"/>
          </p:nvPr>
        </p:nvSpPr>
        <p:spPr>
          <a:xfrm>
            <a:off x="680085" y="4690110"/>
            <a:ext cx="5438100" cy="444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04e0d3a702_3_1:notes"/>
          <p:cNvSpPr txBox="1"/>
          <p:nvPr>
            <p:ph idx="12" type="sldNum"/>
          </p:nvPr>
        </p:nvSpPr>
        <p:spPr>
          <a:xfrm>
            <a:off x="3850640" y="9378950"/>
            <a:ext cx="2945700" cy="49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07950" y="741363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50640" y="9378950"/>
            <a:ext cx="2945765" cy="4933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0085" y="4690110"/>
            <a:ext cx="5438140" cy="444373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07950" y="741680"/>
            <a:ext cx="6581775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b="0" i="0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бор иконок">
  <p:cSld name="Набор иконок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 rot="-5400002">
            <a:off x="-1790065" y="2362835"/>
            <a:ext cx="4572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Verdana"/>
              <a:buNone/>
              <a:defRPr b="0" i="0" sz="19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8536940" y="4895215"/>
            <a:ext cx="36830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Verdana"/>
              <a:buNone/>
            </a:pPr>
            <a:fld id="{00000000-1234-1234-1234-123412341234}" type="slidenum">
              <a:rPr b="0" i="0" lang="ru-RU" sz="900" u="none" cap="none" strike="noStrike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background" id="24" name="Google Shape;24;p5"/>
          <p:cNvPicPr preferRelativeResize="0"/>
          <p:nvPr/>
        </p:nvPicPr>
        <p:blipFill rotWithShape="1">
          <a:blip r:embed="rId3">
            <a:alphaModFix/>
          </a:blip>
          <a:srcRect b="8024" l="14373" r="12041" t="5725"/>
          <a:stretch/>
        </p:blipFill>
        <p:spPr>
          <a:xfrm>
            <a:off x="697230" y="1782445"/>
            <a:ext cx="3946525" cy="308546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/>
          <p:nvPr/>
        </p:nvSpPr>
        <p:spPr>
          <a:xfrm>
            <a:off x="409575" y="838537"/>
            <a:ext cx="832485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ИНФОРМАЦИОННАЯ ДОСТУПНОСТЬ ВОКЗАЛОВ ДЛЯ СЛАБОСЛЫШАЩИХ ПАССАЖИРОВ: ТЕХНОЛОГИИ AURACAST И ИНДУКЦИОННОГО ПРИЁМА</a:t>
            </a:r>
            <a:endParaRPr b="1" i="0" sz="20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6" name="Google Shape;26;p5"/>
          <p:cNvGrpSpPr/>
          <p:nvPr/>
        </p:nvGrpSpPr>
        <p:grpSpPr>
          <a:xfrm>
            <a:off x="6007100" y="2787015"/>
            <a:ext cx="2731136" cy="1179816"/>
            <a:chOff x="8108314" y="1709553"/>
            <a:chExt cx="2731136" cy="1179816"/>
          </a:xfrm>
        </p:grpSpPr>
        <p:sp>
          <p:nvSpPr>
            <p:cNvPr id="27" name="Google Shape;27;p5"/>
            <p:cNvSpPr/>
            <p:nvPr/>
          </p:nvSpPr>
          <p:spPr>
            <a:xfrm>
              <a:off x="8133079" y="2053058"/>
              <a:ext cx="2706371" cy="8363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Круглова Елизавета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1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РК9Ц-83Б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Никитин Даниил 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1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РК9Ц-81Б</a:t>
              </a:r>
              <a:endParaRPr/>
            </a:p>
          </p:txBody>
        </p:sp>
        <p:sp>
          <p:nvSpPr>
            <p:cNvPr id="28" name="Google Shape;28;p5"/>
            <p:cNvSpPr/>
            <p:nvPr/>
          </p:nvSpPr>
          <p:spPr>
            <a:xfrm>
              <a:off x="8108314" y="1709553"/>
              <a:ext cx="2071080" cy="46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20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Verdana"/>
                <a:buNone/>
              </a:pPr>
              <a:r>
                <a:rPr b="1" i="0" lang="ru-RU" sz="1400" u="none" cap="none" strike="noStrike">
                  <a:solidFill>
                    <a:srgbClr val="002060"/>
                  </a:solidFill>
                  <a:latin typeface="Verdana"/>
                  <a:ea typeface="Verdana"/>
                  <a:cs typeface="Verdana"/>
                  <a:sym typeface="Verdana"/>
                </a:rPr>
                <a:t>Участники проекта</a:t>
              </a:r>
              <a:endParaRPr b="1" i="0" sz="14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9" name="Google Shape;29;p5"/>
          <p:cNvGrpSpPr/>
          <p:nvPr/>
        </p:nvGrpSpPr>
        <p:grpSpPr>
          <a:xfrm>
            <a:off x="6007100" y="3949087"/>
            <a:ext cx="2709798" cy="775313"/>
            <a:chOff x="4804157" y="3733823"/>
            <a:chExt cx="2709798" cy="775313"/>
          </a:xfrm>
        </p:grpSpPr>
        <p:sp>
          <p:nvSpPr>
            <p:cNvPr id="30" name="Google Shape;30;p5"/>
            <p:cNvSpPr/>
            <p:nvPr/>
          </p:nvSpPr>
          <p:spPr>
            <a:xfrm>
              <a:off x="4804157" y="4078606"/>
              <a:ext cx="2709798" cy="430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Гаврюшин Сергей Сергеевич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</a:pPr>
              <a:r>
                <a:rPr b="0" i="0" lang="ru-RU" sz="12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Зав. Кафедры РК9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4804157" y="3733823"/>
              <a:ext cx="1686039" cy="408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20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400"/>
                <a:buFont typeface="Verdana"/>
                <a:buNone/>
              </a:pPr>
              <a:r>
                <a:rPr b="1" i="0" lang="ru-RU" sz="1400" u="none" cap="none" strike="noStrike">
                  <a:solidFill>
                    <a:srgbClr val="002060"/>
                  </a:solidFill>
                  <a:latin typeface="Verdana"/>
                  <a:ea typeface="Verdana"/>
                  <a:cs typeface="Verdana"/>
                  <a:sym typeface="Verdana"/>
                </a:rPr>
                <a:t>Руководитель: 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7040880" y="-254000"/>
            <a:ext cx="1473200" cy="1391920"/>
          </a:xfrm>
          <a:custGeom>
            <a:rect b="b" l="l" r="r" t="t"/>
            <a:pathLst>
              <a:path extrusionOk="0" h="1391920" w="1473200">
                <a:moveTo>
                  <a:pt x="0" y="0"/>
                </a:moveTo>
                <a:cubicBezTo>
                  <a:pt x="80433" y="259926"/>
                  <a:pt x="160867" y="519853"/>
                  <a:pt x="406400" y="751840"/>
                </a:cubicBezTo>
                <a:cubicBezTo>
                  <a:pt x="651933" y="983827"/>
                  <a:pt x="1171787" y="1219200"/>
                  <a:pt x="1473200" y="1391920"/>
                </a:cubicBezTo>
              </a:path>
            </a:pathLst>
          </a:custGeom>
          <a:noFill/>
          <a:ln>
            <a:noFill/>
          </a:ln>
          <a:effectLst>
            <a:outerShdw blurRad="38100" algn="tr" dir="5400000" dist="19685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10210" y="934442"/>
            <a:ext cx="4161790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Verdana"/>
              <a:buNone/>
            </a:pPr>
            <a:r>
              <a:rPr b="1" i="0" lang="ru-RU" sz="16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Цели проекта</a:t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409575" y="2414945"/>
            <a:ext cx="4162425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Verdana"/>
              <a:buNone/>
            </a:pPr>
            <a:r>
              <a:rPr b="1" i="0" lang="ru-RU" sz="1600" u="none" cap="none" strike="noStrike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Задачи проекта</a:t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769613" y="2908875"/>
            <a:ext cx="798088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Open Sans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Исследовать 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актуальные проблемы восприятия информации на вокзале у людей с нарушениями слуха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Open Sans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Проанализировать 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технические возможности интеграции Auracast в инфраструктуру вокзала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Open Sans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Разработать 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макет архитектуры передачи сигнала от источника до слухового аппарата/импланта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Open Sans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Оценить 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эффект от внедрения на пилотной площадке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083481" y="303980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None/>
            </a:pPr>
            <a:r>
              <a:rPr b="1" i="0" lang="ru-RU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Цели и задачи проекта</a:t>
            </a:r>
            <a:endParaRPr b="0" i="0" sz="24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481965" y="1252065"/>
            <a:ext cx="8268531" cy="893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Open Sans"/>
              <a:buNone/>
            </a:pP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Разработать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и </a:t>
            </a:r>
            <a:r>
              <a:rPr b="1" i="0" lang="ru-RU" sz="1200" u="none" cap="none" strike="noStrik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внедрить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систему персонального оповещения на вокзалах с использованием технологии </a:t>
            </a:r>
            <a:r>
              <a:rPr b="1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Bluetooth Auracast </a:t>
            </a: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и индукционного магнитного поля, обеспечивающую доступ слабослышащих пассажиров 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 голосовым объявлениям в реальном времени.</a:t>
            </a:r>
            <a:endParaRPr/>
          </a:p>
        </p:txBody>
      </p:sp>
      <p:grpSp>
        <p:nvGrpSpPr>
          <p:cNvPr id="43" name="Google Shape;43;p6"/>
          <p:cNvGrpSpPr/>
          <p:nvPr/>
        </p:nvGrpSpPr>
        <p:grpSpPr>
          <a:xfrm>
            <a:off x="553720" y="2890535"/>
            <a:ext cx="215265" cy="255255"/>
            <a:chOff x="3495675" y="1589743"/>
            <a:chExt cx="252490" cy="299395"/>
          </a:xfrm>
        </p:grpSpPr>
        <p:sp>
          <p:nvSpPr>
            <p:cNvPr id="44" name="Google Shape;44;p6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553720" y="3263273"/>
            <a:ext cx="215265" cy="255255"/>
            <a:chOff x="3495675" y="1589743"/>
            <a:chExt cx="252490" cy="299395"/>
          </a:xfrm>
        </p:grpSpPr>
        <p:sp>
          <p:nvSpPr>
            <p:cNvPr id="47" name="Google Shape;47;p6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49;p6"/>
          <p:cNvGrpSpPr/>
          <p:nvPr/>
        </p:nvGrpSpPr>
        <p:grpSpPr>
          <a:xfrm>
            <a:off x="553720" y="3636011"/>
            <a:ext cx="215265" cy="255255"/>
            <a:chOff x="3495675" y="1589743"/>
            <a:chExt cx="252490" cy="299395"/>
          </a:xfrm>
        </p:grpSpPr>
        <p:sp>
          <p:nvSpPr>
            <p:cNvPr id="50" name="Google Shape;50;p6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6"/>
          <p:cNvGrpSpPr/>
          <p:nvPr/>
        </p:nvGrpSpPr>
        <p:grpSpPr>
          <a:xfrm>
            <a:off x="553720" y="4008748"/>
            <a:ext cx="215265" cy="255255"/>
            <a:chOff x="3495675" y="1589743"/>
            <a:chExt cx="252490" cy="299395"/>
          </a:xfrm>
        </p:grpSpPr>
        <p:sp>
          <p:nvSpPr>
            <p:cNvPr id="53" name="Google Shape;53;p6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3208652" y="221434"/>
            <a:ext cx="55257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None/>
            </a:pPr>
            <a:r>
              <a:rPr b="1" i="0" lang="ru-RU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Текущая ситуация</a:t>
            </a:r>
            <a:endParaRPr b="1" i="0" sz="24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033493" y="1064895"/>
            <a:ext cx="48960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 России </a:t>
            </a:r>
            <a:r>
              <a:rPr b="1" i="0" lang="ru-RU" sz="1100" u="none" cap="none" strike="noStrike">
                <a:solidFill>
                  <a:srgbClr val="CD202C"/>
                </a:solidFill>
                <a:latin typeface="Open Sans"/>
                <a:ea typeface="Open Sans"/>
                <a:cs typeface="Open Sans"/>
                <a:sym typeface="Open Sans"/>
              </a:rPr>
              <a:t>более 13 млн </a:t>
            </a: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человек с нарушениями  слуха </a:t>
            </a:r>
            <a:r>
              <a:rPr b="0" i="1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(Forbes)</a:t>
            </a:r>
            <a:endParaRPr b="0" i="1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4033493" y="1539830"/>
            <a:ext cx="4896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Слабослышащие пассажиры часто </a:t>
            </a:r>
            <a:r>
              <a:rPr b="1" i="0" lang="ru-RU" sz="1100" u="none" cap="none" strike="noStrike">
                <a:solidFill>
                  <a:srgbClr val="CD202C"/>
                </a:solidFill>
                <a:latin typeface="Open Sans"/>
                <a:ea typeface="Open Sans"/>
                <a:cs typeface="Open Sans"/>
                <a:sym typeface="Open Sans"/>
              </a:rPr>
              <a:t>не слышат </a:t>
            </a: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громкие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объявления на вокзалах, что приводит к пропущенным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поездам и значительному дискомфорту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033493" y="2261870"/>
            <a:ext cx="494398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Число граждан с нарушениями зрения и слуха ежегодно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202C"/>
              </a:buClr>
              <a:buSzPts val="1100"/>
              <a:buFont typeface="Open Sans"/>
              <a:buNone/>
            </a:pPr>
            <a:r>
              <a:rPr b="1" i="0" lang="ru-RU" sz="1100" u="none" cap="none" strike="noStrike">
                <a:solidFill>
                  <a:srgbClr val="CD202C"/>
                </a:solidFill>
                <a:latin typeface="Open Sans"/>
                <a:ea typeface="Open Sans"/>
                <a:cs typeface="Open Sans"/>
                <a:sym typeface="Open Sans"/>
              </a:rPr>
              <a:t>увеличивается на 3-5% </a:t>
            </a: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 результате старения населения,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ухудшения экологической ситуации и последствий боевых действий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3" name="Google Shape;63;p7"/>
          <p:cNvGrpSpPr/>
          <p:nvPr/>
        </p:nvGrpSpPr>
        <p:grpSpPr>
          <a:xfrm>
            <a:off x="3726590" y="1064895"/>
            <a:ext cx="252490" cy="299395"/>
            <a:chOff x="3495675" y="1589743"/>
            <a:chExt cx="252490" cy="299395"/>
          </a:xfrm>
        </p:grpSpPr>
        <p:sp>
          <p:nvSpPr>
            <p:cNvPr id="64" name="Google Shape;64;p7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7"/>
          <p:cNvSpPr/>
          <p:nvPr/>
        </p:nvSpPr>
        <p:spPr>
          <a:xfrm>
            <a:off x="3998281" y="3047911"/>
            <a:ext cx="50225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Центр содействия мобильности ОАО «РЖД» принимает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предварительные заявки, но </a:t>
            </a:r>
            <a:r>
              <a:rPr b="1" i="0" lang="ru-RU" sz="1100" u="none" cap="none" strike="noStrike">
                <a:solidFill>
                  <a:srgbClr val="CD202C"/>
                </a:solidFill>
                <a:latin typeface="Open Sans"/>
                <a:ea typeface="Open Sans"/>
                <a:cs typeface="Open Sans"/>
                <a:sym typeface="Open Sans"/>
              </a:rPr>
              <a:t>не имеет </a:t>
            </a: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системы для взаимодействия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 пассажирами в реальном времени на вокзале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7" name="Google Shape;67;p7"/>
          <p:cNvGrpSpPr/>
          <p:nvPr/>
        </p:nvGrpSpPr>
        <p:grpSpPr>
          <a:xfrm>
            <a:off x="3726590" y="1603700"/>
            <a:ext cx="252490" cy="299395"/>
            <a:chOff x="3495675" y="1589743"/>
            <a:chExt cx="252490" cy="299395"/>
          </a:xfrm>
        </p:grpSpPr>
        <p:sp>
          <p:nvSpPr>
            <p:cNvPr id="68" name="Google Shape;68;p7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7"/>
          <p:cNvGrpSpPr/>
          <p:nvPr/>
        </p:nvGrpSpPr>
        <p:grpSpPr>
          <a:xfrm>
            <a:off x="3726590" y="2298118"/>
            <a:ext cx="252490" cy="299395"/>
            <a:chOff x="3495675" y="1589743"/>
            <a:chExt cx="252490" cy="299395"/>
          </a:xfrm>
        </p:grpSpPr>
        <p:sp>
          <p:nvSpPr>
            <p:cNvPr id="71" name="Google Shape;71;p7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3726590" y="3028043"/>
            <a:ext cx="252490" cy="299395"/>
            <a:chOff x="3495675" y="1589743"/>
            <a:chExt cx="252490" cy="299395"/>
          </a:xfrm>
        </p:grpSpPr>
        <p:sp>
          <p:nvSpPr>
            <p:cNvPr id="74" name="Google Shape;74;p7"/>
            <p:cNvSpPr/>
            <p:nvPr/>
          </p:nvSpPr>
          <p:spPr>
            <a:xfrm>
              <a:off x="3495675" y="1589743"/>
              <a:ext cx="252000" cy="252000"/>
            </a:xfrm>
            <a:prstGeom prst="ellipse">
              <a:avLst/>
            </a:prstGeom>
            <a:solidFill>
              <a:srgbClr val="455D70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3604165" y="1745138"/>
              <a:ext cx="144000" cy="144000"/>
            </a:xfrm>
            <a:prstGeom prst="ellipse">
              <a:avLst/>
            </a:prstGeom>
            <a:solidFill>
              <a:srgbClr val="CD202C"/>
            </a:solidFill>
            <a:ln>
              <a:noFill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icture background" id="76" name="Google Shape;76;p7"/>
          <p:cNvPicPr preferRelativeResize="0"/>
          <p:nvPr/>
        </p:nvPicPr>
        <p:blipFill rotWithShape="1">
          <a:blip r:embed="rId3">
            <a:alphaModFix/>
          </a:blip>
          <a:srcRect b="-1927" l="37963" r="16928" t="-1366"/>
          <a:stretch/>
        </p:blipFill>
        <p:spPr>
          <a:xfrm flipH="1">
            <a:off x="-5" y="-83184"/>
            <a:ext cx="3495679" cy="538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8514080" y="4114126"/>
            <a:ext cx="30162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6985" y="239356"/>
            <a:ext cx="91370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Verdana"/>
              <a:buNone/>
            </a:pPr>
            <a:r>
              <a:rPr b="1" i="0" lang="ru-RU" sz="24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Проблема</a:t>
            </a:r>
            <a:endParaRPr b="1" i="0" sz="24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83" name="Google Shape;83;p8"/>
          <p:cNvGrpSpPr/>
          <p:nvPr/>
        </p:nvGrpSpPr>
        <p:grpSpPr>
          <a:xfrm>
            <a:off x="5289550" y="3790306"/>
            <a:ext cx="3148619" cy="288299"/>
            <a:chOff x="5433060" y="3432892"/>
            <a:chExt cx="3148619" cy="288299"/>
          </a:xfrm>
        </p:grpSpPr>
        <p:sp>
          <p:nvSpPr>
            <p:cNvPr id="84" name="Google Shape;84;p8"/>
            <p:cNvSpPr/>
            <p:nvPr/>
          </p:nvSpPr>
          <p:spPr>
            <a:xfrm>
              <a:off x="5433060" y="3432892"/>
              <a:ext cx="3081020" cy="288299"/>
            </a:xfrm>
            <a:prstGeom prst="roundRect">
              <a:avLst>
                <a:gd fmla="val 16667" name="adj"/>
              </a:avLst>
            </a:prstGeom>
            <a:solidFill>
              <a:srgbClr val="0066A1"/>
            </a:solidFill>
            <a:ln cap="flat" cmpd="sng" w="9525">
              <a:solidFill>
                <a:srgbClr val="1D4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433060" y="3438542"/>
              <a:ext cx="31486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Verdana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Нехватка обученного персонала </a:t>
              </a:r>
              <a:endParaRPr b="1" i="0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6" name="Google Shape;86;p8"/>
          <p:cNvGrpSpPr/>
          <p:nvPr/>
        </p:nvGrpSpPr>
        <p:grpSpPr>
          <a:xfrm>
            <a:off x="1558290" y="1135370"/>
            <a:ext cx="2437191" cy="288299"/>
            <a:chOff x="984249" y="2336547"/>
            <a:chExt cx="2932865" cy="288299"/>
          </a:xfrm>
        </p:grpSpPr>
        <p:sp>
          <p:nvSpPr>
            <p:cNvPr id="87" name="Google Shape;87;p8"/>
            <p:cNvSpPr/>
            <p:nvPr/>
          </p:nvSpPr>
          <p:spPr>
            <a:xfrm>
              <a:off x="984249" y="2336547"/>
              <a:ext cx="2870201" cy="288299"/>
            </a:xfrm>
            <a:prstGeom prst="roundRect">
              <a:avLst>
                <a:gd fmla="val 16667" name="adj"/>
              </a:avLst>
            </a:prstGeom>
            <a:solidFill>
              <a:srgbClr val="0066A1"/>
            </a:solidFill>
            <a:ln cap="flat" cmpd="sng" w="9525">
              <a:solidFill>
                <a:srgbClr val="1D4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984249" y="2342197"/>
              <a:ext cx="29328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Verdana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Недостаток информации</a:t>
              </a:r>
              <a:endParaRPr b="1" i="0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1456368" y="2893012"/>
            <a:ext cx="2425592" cy="282648"/>
            <a:chOff x="1491523" y="3567503"/>
            <a:chExt cx="2425592" cy="282648"/>
          </a:xfrm>
        </p:grpSpPr>
        <p:sp>
          <p:nvSpPr>
            <p:cNvPr id="90" name="Google Shape;90;p8"/>
            <p:cNvSpPr/>
            <p:nvPr/>
          </p:nvSpPr>
          <p:spPr>
            <a:xfrm>
              <a:off x="2452027" y="3567503"/>
              <a:ext cx="1465088" cy="257819"/>
            </a:xfrm>
            <a:prstGeom prst="roundRect">
              <a:avLst>
                <a:gd fmla="val 16667" name="adj"/>
              </a:avLst>
            </a:prstGeom>
            <a:solidFill>
              <a:srgbClr val="0066A1"/>
            </a:solidFill>
            <a:ln cap="flat" cmpd="sng" w="9525">
              <a:solidFill>
                <a:srgbClr val="1D4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1491523" y="3573152"/>
              <a:ext cx="24255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1" i="0" lang="ru-RU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</a:t>
              </a:r>
              <a:r>
                <a:rPr b="1" i="0" lang="ru-RU" sz="1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Фоновый шум</a:t>
              </a:r>
              <a:endParaRPr b="1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2" name="Google Shape;92;p8"/>
          <p:cNvGrpSpPr/>
          <p:nvPr/>
        </p:nvGrpSpPr>
        <p:grpSpPr>
          <a:xfrm>
            <a:off x="5257083" y="1924958"/>
            <a:ext cx="3142208" cy="467048"/>
            <a:chOff x="5263953" y="4165584"/>
            <a:chExt cx="3142208" cy="467048"/>
          </a:xfrm>
        </p:grpSpPr>
        <p:sp>
          <p:nvSpPr>
            <p:cNvPr id="93" name="Google Shape;93;p8"/>
            <p:cNvSpPr/>
            <p:nvPr/>
          </p:nvSpPr>
          <p:spPr>
            <a:xfrm>
              <a:off x="5263953" y="4165584"/>
              <a:ext cx="3142207" cy="467048"/>
            </a:xfrm>
            <a:prstGeom prst="roundRect">
              <a:avLst>
                <a:gd fmla="val 16667" name="adj"/>
              </a:avLst>
            </a:prstGeom>
            <a:solidFill>
              <a:srgbClr val="0066A1"/>
            </a:solidFill>
            <a:ln cap="flat" cmpd="sng" w="9525">
              <a:solidFill>
                <a:srgbClr val="1D499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algn="tr" dir="5400000" dist="19685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5263954" y="4168276"/>
              <a:ext cx="31422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Verdana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Ограниченный доступ </a:t>
              </a:r>
              <a:endParaRPr b="1" i="0" sz="1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Verdana"/>
                <a:buNone/>
              </a:pPr>
              <a:r>
                <a:rPr b="1" i="0" lang="ru-RU" sz="12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к вспомогательным технологиям</a:t>
              </a:r>
              <a:endParaRPr/>
            </a:p>
          </p:txBody>
        </p:sp>
      </p:grpSp>
      <p:cxnSp>
        <p:nvCxnSpPr>
          <p:cNvPr id="95" name="Google Shape;95;p8"/>
          <p:cNvCxnSpPr/>
          <p:nvPr/>
        </p:nvCxnSpPr>
        <p:spPr>
          <a:xfrm>
            <a:off x="4569522" y="993140"/>
            <a:ext cx="0" cy="3312000"/>
          </a:xfrm>
          <a:prstGeom prst="straightConnector1">
            <a:avLst/>
          </a:prstGeom>
          <a:noFill/>
          <a:ln cap="flat" cmpd="sng" w="762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 rot="10800000">
            <a:off x="3995482" y="1279520"/>
            <a:ext cx="574040" cy="0"/>
          </a:xfrm>
          <a:prstGeom prst="straightConnector1">
            <a:avLst/>
          </a:prstGeom>
          <a:noFill/>
          <a:ln cap="flat" cmpd="sng" w="762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 rot="10800000">
            <a:off x="3995482" y="3037161"/>
            <a:ext cx="574040" cy="0"/>
          </a:xfrm>
          <a:prstGeom prst="straightConnector1">
            <a:avLst/>
          </a:prstGeom>
          <a:noFill/>
          <a:ln cap="flat" cmpd="sng" w="762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8"/>
          <p:cNvCxnSpPr/>
          <p:nvPr/>
        </p:nvCxnSpPr>
        <p:spPr>
          <a:xfrm rot="10800000">
            <a:off x="4569522" y="3970616"/>
            <a:ext cx="574040" cy="0"/>
          </a:xfrm>
          <a:prstGeom prst="straightConnector1">
            <a:avLst/>
          </a:prstGeom>
          <a:noFill/>
          <a:ln cap="flat" cmpd="sng" w="762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8"/>
          <p:cNvCxnSpPr/>
          <p:nvPr/>
        </p:nvCxnSpPr>
        <p:spPr>
          <a:xfrm rot="10800000">
            <a:off x="4569522" y="2158482"/>
            <a:ext cx="574040" cy="0"/>
          </a:xfrm>
          <a:prstGeom prst="straightConnector1">
            <a:avLst/>
          </a:prstGeom>
          <a:noFill/>
          <a:ln cap="flat" cmpd="sng" w="762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8"/>
          <p:cNvSpPr/>
          <p:nvPr/>
        </p:nvSpPr>
        <p:spPr>
          <a:xfrm>
            <a:off x="4426012" y="1064895"/>
            <a:ext cx="287020" cy="430530"/>
          </a:xfrm>
          <a:prstGeom prst="roundRect">
            <a:avLst>
              <a:gd fmla="val 16667" name="adj"/>
            </a:avLst>
          </a:prstGeom>
          <a:solidFill>
            <a:srgbClr val="455D70"/>
          </a:solidFill>
          <a:ln>
            <a:noFill/>
          </a:ln>
          <a:effectLst>
            <a:outerShdw blurRad="38100" algn="tr" dir="5400000" dist="19685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426012" y="1949754"/>
            <a:ext cx="287020" cy="430530"/>
          </a:xfrm>
          <a:prstGeom prst="roundRect">
            <a:avLst>
              <a:gd fmla="val 16667" name="adj"/>
            </a:avLst>
          </a:prstGeom>
          <a:solidFill>
            <a:srgbClr val="68798B"/>
          </a:solidFill>
          <a:ln>
            <a:noFill/>
          </a:ln>
          <a:effectLst>
            <a:outerShdw blurRad="38100" algn="tr" dir="5400000" dist="19685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426012" y="2834613"/>
            <a:ext cx="287020" cy="430530"/>
          </a:xfrm>
          <a:prstGeom prst="roundRect">
            <a:avLst>
              <a:gd fmla="val 16667" name="adj"/>
            </a:avLst>
          </a:prstGeom>
          <a:solidFill>
            <a:srgbClr val="909CAA"/>
          </a:solidFill>
          <a:ln>
            <a:noFill/>
          </a:ln>
          <a:effectLst>
            <a:outerShdw blurRad="38100" algn="tr" dir="5400000" dist="19685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426012" y="3719473"/>
            <a:ext cx="287020" cy="430530"/>
          </a:xfrm>
          <a:prstGeom prst="roundRect">
            <a:avLst>
              <a:gd fmla="val 16667" name="adj"/>
            </a:avLst>
          </a:prstGeom>
          <a:solidFill>
            <a:srgbClr val="BFC5CE"/>
          </a:solidFill>
          <a:ln>
            <a:noFill/>
          </a:ln>
          <a:effectLst>
            <a:outerShdw blurRad="38100" algn="tr" dir="5400000" dist="19685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b="1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266700" y="1436654"/>
            <a:ext cx="36685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Пассажиры с нарушениями зрения и слуха сталкиваются с трудностями в получении информации о расписании и изменениях маршрутов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66908" y="3200163"/>
            <a:ext cx="346838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На вокзалах высокий уровень шума затрудняет людям с нарушениями слуха понимание объявлений, что может привести к ошибкам и пропуску важной информации.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217795" y="4098647"/>
            <a:ext cx="373126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Персонал вокзалов часто не обучен работать с людьми с нарушениями слуха, что приводит к недопониманию и недостаточной помощи.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217795" y="2398234"/>
            <a:ext cx="37312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Не все вокзалы имеют современные технологии, такие как индукционные петли или системы передачи звука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 слуховые аппараты, что ограничивает доступ слабослышащих пассажиров к информации.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0" y="220394"/>
            <a:ext cx="9144000" cy="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Verdana"/>
              <a:buNone/>
            </a:pPr>
            <a:r>
              <a:rPr b="1" i="0" lang="ru-RU" sz="16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Как слышат: принцип работы слуховых аппаратов </a:t>
            </a:r>
            <a:endParaRPr b="1" i="0" sz="16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Verdana"/>
              <a:buNone/>
            </a:pPr>
            <a:r>
              <a:rPr b="1" i="0" lang="ru-RU" sz="16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и кохлеарных имплантов</a:t>
            </a:r>
            <a:endParaRPr b="1" i="0" sz="16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092" y="961381"/>
            <a:ext cx="6935816" cy="38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406979" y="220394"/>
            <a:ext cx="8326811" cy="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300"/>
              <a:buFont typeface="Verdana"/>
              <a:buNone/>
            </a:pPr>
            <a:r>
              <a:rPr b="1" i="0" lang="ru-RU" sz="23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Технология AURACAST</a:t>
            </a:r>
            <a:endParaRPr b="1" i="0" sz="23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478030" y="1046598"/>
            <a:ext cx="8255760" cy="520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047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Open Sans"/>
              <a:buNone/>
            </a:pPr>
            <a:r>
              <a:rPr b="0" i="0" lang="ru-RU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Технология использует Bluetooth LE Audio для трансляции  аудиопотока на множество устройств одновременно с минимальным энергопотреблением</a:t>
            </a:r>
            <a:endParaRPr b="0" i="0" sz="105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469958" y="4006850"/>
            <a:ext cx="8264467" cy="565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1818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AURACAST - инновационная технология для передачи аудио-контента непосредственно на слуховые аппараты/импланты и другие совместимые устройства с низкой задержкой. </a:t>
            </a:r>
            <a:endParaRPr b="0" i="0" sz="1100" u="none" cap="none" strike="noStrike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303952" y="634375"/>
            <a:ext cx="2690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1875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Open Sans"/>
              <a:buNone/>
            </a:pPr>
            <a:r>
              <a:rPr b="1" i="0" lang="ru-RU" sz="16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Принцип работы</a:t>
            </a:r>
            <a:endParaRPr b="0" i="0" sz="1600" u="none" cap="none" strike="noStrike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2" name="Google Shape;12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225" y="1719580"/>
            <a:ext cx="6124320" cy="213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background"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6632" y="1925955"/>
            <a:ext cx="5250668" cy="287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06979" y="220394"/>
            <a:ext cx="8330042" cy="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300"/>
              <a:buFont typeface="Verdana"/>
              <a:buNone/>
            </a:pPr>
            <a:r>
              <a:rPr b="1" i="0" lang="ru-RU" sz="23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Индукционное поле</a:t>
            </a:r>
            <a:endParaRPr b="1" i="0" sz="23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09575" y="941468"/>
            <a:ext cx="8326148" cy="827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Специальное устройство создает индукционное поле, преобразуя звуковые сигналы в электромагнитные волны. 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Слуховые аппараты с T-катушками улавливают этот сигнал, позволяя пользователям слышать звук без посторонних шумов. Это улучшает восприятие звука в шумной обстановке, что особенно полезно для людей с нарушениями слуха.</a:t>
            </a:r>
            <a:endParaRPr/>
          </a:p>
        </p:txBody>
      </p:sp>
      <p:sp>
        <p:nvSpPr>
          <p:cNvPr id="130" name="Google Shape;130;p11"/>
          <p:cNvSpPr/>
          <p:nvPr/>
        </p:nvSpPr>
        <p:spPr>
          <a:xfrm>
            <a:off x="303945" y="634365"/>
            <a:ext cx="1940916" cy="414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1875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Open Sans"/>
              <a:buNone/>
            </a:pPr>
            <a:r>
              <a:rPr b="1" i="0" lang="ru-RU" sz="16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Принцип работы</a:t>
            </a:r>
            <a:endParaRPr b="0" i="0" sz="1600" u="none" cap="none" strike="noStrike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303945" y="1968573"/>
            <a:ext cx="1807226" cy="414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1875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Open Sans"/>
              <a:buNone/>
            </a:pPr>
            <a:r>
              <a:rPr b="1" i="0" lang="ru-RU" sz="1600" u="none" cap="none" strike="noStrike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Преимущества</a:t>
            </a:r>
            <a:endParaRPr b="0" i="0" sz="1600" u="none" cap="none" strike="noStrike">
              <a:solidFill>
                <a:srgbClr val="00206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2" name="Google Shape;132;p11"/>
          <p:cNvGrpSpPr/>
          <p:nvPr/>
        </p:nvGrpSpPr>
        <p:grpSpPr>
          <a:xfrm>
            <a:off x="410210" y="3332902"/>
            <a:ext cx="3823913" cy="628575"/>
            <a:chOff x="406979" y="2513951"/>
            <a:chExt cx="3823913" cy="628575"/>
          </a:xfrm>
        </p:grpSpPr>
        <p:grpSp>
          <p:nvGrpSpPr>
            <p:cNvPr id="133" name="Google Shape;133;p11"/>
            <p:cNvGrpSpPr/>
            <p:nvPr/>
          </p:nvGrpSpPr>
          <p:grpSpPr>
            <a:xfrm>
              <a:off x="406979" y="2513951"/>
              <a:ext cx="3823913" cy="276999"/>
              <a:chOff x="545072" y="2707344"/>
              <a:chExt cx="3823913" cy="276999"/>
            </a:xfrm>
          </p:grpSpPr>
          <p:sp>
            <p:nvSpPr>
              <p:cNvPr id="134" name="Google Shape;134;p11"/>
              <p:cNvSpPr/>
              <p:nvPr/>
            </p:nvSpPr>
            <p:spPr>
              <a:xfrm>
                <a:off x="768985" y="2707344"/>
                <a:ext cx="36000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3729"/>
                  </a:buClr>
                  <a:buSzPts val="1200"/>
                  <a:buFont typeface="Open Sans"/>
                  <a:buNone/>
                </a:pPr>
                <a:r>
                  <a:rPr b="1" i="0" lang="ru-RU" sz="1200" u="none" cap="none" strike="noStrike">
                    <a:solidFill>
                      <a:srgbClr val="DC372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Чистый звук </a:t>
                </a:r>
                <a:endParaRPr/>
              </a:p>
            </p:txBody>
          </p:sp>
          <p:grpSp>
            <p:nvGrpSpPr>
              <p:cNvPr id="135" name="Google Shape;135;p11"/>
              <p:cNvGrpSpPr/>
              <p:nvPr/>
            </p:nvGrpSpPr>
            <p:grpSpPr>
              <a:xfrm>
                <a:off x="545072" y="2723325"/>
                <a:ext cx="206647" cy="245036"/>
                <a:chOff x="3495675" y="1589743"/>
                <a:chExt cx="252490" cy="299395"/>
              </a:xfrm>
            </p:grpSpPr>
            <p:sp>
              <p:nvSpPr>
                <p:cNvPr id="136" name="Google Shape;136;p11"/>
                <p:cNvSpPr/>
                <p:nvPr/>
              </p:nvSpPr>
              <p:spPr>
                <a:xfrm>
                  <a:off x="3495675" y="1589743"/>
                  <a:ext cx="252000" cy="252000"/>
                </a:xfrm>
                <a:prstGeom prst="ellipse">
                  <a:avLst/>
                </a:prstGeom>
                <a:solidFill>
                  <a:srgbClr val="68798B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11"/>
                <p:cNvSpPr/>
                <p:nvPr/>
              </p:nvSpPr>
              <p:spPr>
                <a:xfrm>
                  <a:off x="3604165" y="1745138"/>
                  <a:ext cx="144000" cy="144000"/>
                </a:xfrm>
                <a:prstGeom prst="ellipse">
                  <a:avLst/>
                </a:prstGeom>
                <a:solidFill>
                  <a:srgbClr val="DC3729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8" name="Google Shape;138;p11"/>
            <p:cNvSpPr/>
            <p:nvPr/>
          </p:nvSpPr>
          <p:spPr>
            <a:xfrm>
              <a:off x="645794" y="2711639"/>
              <a:ext cx="32054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Прямое подключение снижает фоновый шум </a:t>
              </a:r>
              <a:endPara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и улучшает четкость звука</a:t>
              </a:r>
              <a:endPara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410207" y="4403323"/>
            <a:ext cx="4810819" cy="477226"/>
            <a:chOff x="406975" y="3097764"/>
            <a:chExt cx="4810819" cy="477226"/>
          </a:xfrm>
        </p:grpSpPr>
        <p:grpSp>
          <p:nvGrpSpPr>
            <p:cNvPr id="140" name="Google Shape;140;p11"/>
            <p:cNvGrpSpPr/>
            <p:nvPr/>
          </p:nvGrpSpPr>
          <p:grpSpPr>
            <a:xfrm>
              <a:off x="406975" y="3097764"/>
              <a:ext cx="3821635" cy="276999"/>
              <a:chOff x="547350" y="3305480"/>
              <a:chExt cx="3821635" cy="276999"/>
            </a:xfrm>
          </p:grpSpPr>
          <p:grpSp>
            <p:nvGrpSpPr>
              <p:cNvPr id="141" name="Google Shape;141;p11"/>
              <p:cNvGrpSpPr/>
              <p:nvPr/>
            </p:nvGrpSpPr>
            <p:grpSpPr>
              <a:xfrm>
                <a:off x="547350" y="3321461"/>
                <a:ext cx="206652" cy="245036"/>
                <a:chOff x="3495669" y="1589743"/>
                <a:chExt cx="252496" cy="299395"/>
              </a:xfrm>
            </p:grpSpPr>
            <p:sp>
              <p:nvSpPr>
                <p:cNvPr id="142" name="Google Shape;142;p11"/>
                <p:cNvSpPr/>
                <p:nvPr/>
              </p:nvSpPr>
              <p:spPr>
                <a:xfrm>
                  <a:off x="3495669" y="1589743"/>
                  <a:ext cx="252000" cy="252000"/>
                </a:xfrm>
                <a:prstGeom prst="ellipse">
                  <a:avLst/>
                </a:prstGeom>
                <a:solidFill>
                  <a:srgbClr val="68798B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11"/>
                <p:cNvSpPr/>
                <p:nvPr/>
              </p:nvSpPr>
              <p:spPr>
                <a:xfrm>
                  <a:off x="3604165" y="1745138"/>
                  <a:ext cx="144000" cy="144000"/>
                </a:xfrm>
                <a:prstGeom prst="ellipse">
                  <a:avLst/>
                </a:prstGeom>
                <a:solidFill>
                  <a:srgbClr val="DC3729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4" name="Google Shape;144;p11"/>
              <p:cNvSpPr/>
              <p:nvPr/>
            </p:nvSpPr>
            <p:spPr>
              <a:xfrm>
                <a:off x="768985" y="3305480"/>
                <a:ext cx="36000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3729"/>
                  </a:buClr>
                  <a:buSzPts val="1200"/>
                  <a:buFont typeface="Open Sans"/>
                  <a:buNone/>
                </a:pPr>
                <a:r>
                  <a:rPr b="1" i="0" lang="ru-RU" sz="1200" u="none" cap="none" strike="noStrike">
                    <a:solidFill>
                      <a:srgbClr val="DC372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Удобство использования</a:t>
                </a:r>
                <a:endParaRPr/>
              </a:p>
            </p:txBody>
          </p:sp>
        </p:grpSp>
        <p:sp>
          <p:nvSpPr>
            <p:cNvPr id="145" name="Google Shape;145;p11"/>
            <p:cNvSpPr/>
            <p:nvPr/>
          </p:nvSpPr>
          <p:spPr>
            <a:xfrm>
              <a:off x="645794" y="3321074"/>
              <a:ext cx="4572000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Легкое подключение к различным устройствам без проводов</a:t>
              </a:r>
              <a:endPara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6" name="Google Shape;146;p11"/>
          <p:cNvGrpSpPr/>
          <p:nvPr/>
        </p:nvGrpSpPr>
        <p:grpSpPr>
          <a:xfrm>
            <a:off x="410210" y="2860716"/>
            <a:ext cx="3820490" cy="475776"/>
            <a:chOff x="406979" y="3571560"/>
            <a:chExt cx="3820490" cy="475776"/>
          </a:xfrm>
        </p:grpSpPr>
        <p:grpSp>
          <p:nvGrpSpPr>
            <p:cNvPr id="147" name="Google Shape;147;p11"/>
            <p:cNvGrpSpPr/>
            <p:nvPr/>
          </p:nvGrpSpPr>
          <p:grpSpPr>
            <a:xfrm>
              <a:off x="406979" y="3571560"/>
              <a:ext cx="3820490" cy="276999"/>
              <a:chOff x="545072" y="3733200"/>
              <a:chExt cx="3820490" cy="276999"/>
            </a:xfrm>
          </p:grpSpPr>
          <p:grpSp>
            <p:nvGrpSpPr>
              <p:cNvPr id="148" name="Google Shape;148;p11"/>
              <p:cNvGrpSpPr/>
              <p:nvPr/>
            </p:nvGrpSpPr>
            <p:grpSpPr>
              <a:xfrm>
                <a:off x="545072" y="3749181"/>
                <a:ext cx="206647" cy="245036"/>
                <a:chOff x="3495675" y="1589743"/>
                <a:chExt cx="252490" cy="299395"/>
              </a:xfrm>
            </p:grpSpPr>
            <p:sp>
              <p:nvSpPr>
                <p:cNvPr id="149" name="Google Shape;149;p11"/>
                <p:cNvSpPr/>
                <p:nvPr/>
              </p:nvSpPr>
              <p:spPr>
                <a:xfrm>
                  <a:off x="3495675" y="1589743"/>
                  <a:ext cx="252000" cy="252000"/>
                </a:xfrm>
                <a:prstGeom prst="ellipse">
                  <a:avLst/>
                </a:prstGeom>
                <a:solidFill>
                  <a:srgbClr val="68798B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11"/>
                <p:cNvSpPr/>
                <p:nvPr/>
              </p:nvSpPr>
              <p:spPr>
                <a:xfrm>
                  <a:off x="3604165" y="1745138"/>
                  <a:ext cx="144000" cy="144000"/>
                </a:xfrm>
                <a:prstGeom prst="ellipse">
                  <a:avLst/>
                </a:prstGeom>
                <a:solidFill>
                  <a:srgbClr val="DC3729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1" name="Google Shape;151;p11"/>
              <p:cNvSpPr/>
              <p:nvPr/>
            </p:nvSpPr>
            <p:spPr>
              <a:xfrm>
                <a:off x="765562" y="3733200"/>
                <a:ext cx="36000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3729"/>
                  </a:buClr>
                  <a:buSzPts val="1200"/>
                  <a:buFont typeface="Open Sans"/>
                  <a:buNone/>
                </a:pPr>
                <a:r>
                  <a:rPr b="1" i="0" lang="ru-RU" sz="1200" u="none" cap="none" strike="noStrike">
                    <a:solidFill>
                      <a:srgbClr val="DC372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Улучшение качества связи</a:t>
                </a:r>
                <a:endParaRPr/>
              </a:p>
            </p:txBody>
          </p:sp>
        </p:grpSp>
        <p:sp>
          <p:nvSpPr>
            <p:cNvPr id="152" name="Google Shape;152;p11"/>
            <p:cNvSpPr/>
            <p:nvPr/>
          </p:nvSpPr>
          <p:spPr>
            <a:xfrm>
              <a:off x="649242" y="3793420"/>
              <a:ext cx="2537811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Лучше слышимость в шумных местах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1"/>
          <p:cNvGrpSpPr/>
          <p:nvPr/>
        </p:nvGrpSpPr>
        <p:grpSpPr>
          <a:xfrm>
            <a:off x="410210" y="2408785"/>
            <a:ext cx="3819349" cy="455521"/>
            <a:chOff x="406979" y="4045358"/>
            <a:chExt cx="3819349" cy="455521"/>
          </a:xfrm>
        </p:grpSpPr>
        <p:grpSp>
          <p:nvGrpSpPr>
            <p:cNvPr id="154" name="Google Shape;154;p11"/>
            <p:cNvGrpSpPr/>
            <p:nvPr/>
          </p:nvGrpSpPr>
          <p:grpSpPr>
            <a:xfrm>
              <a:off x="406979" y="4045358"/>
              <a:ext cx="3819349" cy="276999"/>
              <a:chOff x="549636" y="4176901"/>
              <a:chExt cx="3819349" cy="276999"/>
            </a:xfrm>
          </p:grpSpPr>
          <p:grpSp>
            <p:nvGrpSpPr>
              <p:cNvPr id="155" name="Google Shape;155;p11"/>
              <p:cNvGrpSpPr/>
              <p:nvPr/>
            </p:nvGrpSpPr>
            <p:grpSpPr>
              <a:xfrm>
                <a:off x="549636" y="4192882"/>
                <a:ext cx="206647" cy="245036"/>
                <a:chOff x="3495675" y="1589743"/>
                <a:chExt cx="252490" cy="299395"/>
              </a:xfrm>
            </p:grpSpPr>
            <p:sp>
              <p:nvSpPr>
                <p:cNvPr id="156" name="Google Shape;156;p11"/>
                <p:cNvSpPr/>
                <p:nvPr/>
              </p:nvSpPr>
              <p:spPr>
                <a:xfrm>
                  <a:off x="3495675" y="1589743"/>
                  <a:ext cx="252000" cy="252000"/>
                </a:xfrm>
                <a:prstGeom prst="ellipse">
                  <a:avLst/>
                </a:prstGeom>
                <a:solidFill>
                  <a:srgbClr val="68798B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11"/>
                <p:cNvSpPr/>
                <p:nvPr/>
              </p:nvSpPr>
              <p:spPr>
                <a:xfrm>
                  <a:off x="3604165" y="1745138"/>
                  <a:ext cx="144000" cy="144000"/>
                </a:xfrm>
                <a:prstGeom prst="ellipse">
                  <a:avLst/>
                </a:prstGeom>
                <a:solidFill>
                  <a:srgbClr val="DC3729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8" name="Google Shape;158;p11"/>
              <p:cNvSpPr/>
              <p:nvPr/>
            </p:nvSpPr>
            <p:spPr>
              <a:xfrm>
                <a:off x="768985" y="4176901"/>
                <a:ext cx="36000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3729"/>
                  </a:buClr>
                  <a:buSzPts val="1200"/>
                  <a:buFont typeface="Open Sans"/>
                  <a:buNone/>
                </a:pPr>
                <a:r>
                  <a:rPr b="1" i="0" lang="ru-RU" sz="1200" u="none" cap="none" strike="noStrike">
                    <a:solidFill>
                      <a:srgbClr val="DC372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Снижение искажений</a:t>
                </a:r>
                <a:endParaRPr/>
              </a:p>
            </p:txBody>
          </p:sp>
        </p:grpSp>
        <p:sp>
          <p:nvSpPr>
            <p:cNvPr id="159" name="Google Shape;159;p11"/>
            <p:cNvSpPr/>
            <p:nvPr/>
          </p:nvSpPr>
          <p:spPr>
            <a:xfrm>
              <a:off x="645794" y="4246963"/>
              <a:ext cx="21620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Минимизация искажений звука</a:t>
              </a:r>
              <a:endParaRPr/>
            </a:p>
          </p:txBody>
        </p:sp>
      </p:grpSp>
      <p:grpSp>
        <p:nvGrpSpPr>
          <p:cNvPr id="160" name="Google Shape;160;p11"/>
          <p:cNvGrpSpPr/>
          <p:nvPr/>
        </p:nvGrpSpPr>
        <p:grpSpPr>
          <a:xfrm>
            <a:off x="410210" y="3957887"/>
            <a:ext cx="4810816" cy="446361"/>
            <a:chOff x="406979" y="4518839"/>
            <a:chExt cx="4810816" cy="446361"/>
          </a:xfrm>
        </p:grpSpPr>
        <p:grpSp>
          <p:nvGrpSpPr>
            <p:cNvPr id="161" name="Google Shape;161;p11"/>
            <p:cNvGrpSpPr/>
            <p:nvPr/>
          </p:nvGrpSpPr>
          <p:grpSpPr>
            <a:xfrm>
              <a:off x="406979" y="4518839"/>
              <a:ext cx="3823913" cy="276999"/>
              <a:chOff x="545072" y="4603440"/>
              <a:chExt cx="3823913" cy="276999"/>
            </a:xfrm>
          </p:grpSpPr>
          <p:grpSp>
            <p:nvGrpSpPr>
              <p:cNvPr id="162" name="Google Shape;162;p11"/>
              <p:cNvGrpSpPr/>
              <p:nvPr/>
            </p:nvGrpSpPr>
            <p:grpSpPr>
              <a:xfrm>
                <a:off x="545072" y="4619421"/>
                <a:ext cx="206647" cy="245036"/>
                <a:chOff x="3495675" y="1589743"/>
                <a:chExt cx="252490" cy="299395"/>
              </a:xfrm>
            </p:grpSpPr>
            <p:sp>
              <p:nvSpPr>
                <p:cNvPr id="163" name="Google Shape;163;p11"/>
                <p:cNvSpPr/>
                <p:nvPr/>
              </p:nvSpPr>
              <p:spPr>
                <a:xfrm>
                  <a:off x="3495675" y="1589743"/>
                  <a:ext cx="252000" cy="252000"/>
                </a:xfrm>
                <a:prstGeom prst="ellipse">
                  <a:avLst/>
                </a:prstGeom>
                <a:solidFill>
                  <a:srgbClr val="68798B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1"/>
                <p:cNvSpPr/>
                <p:nvPr/>
              </p:nvSpPr>
              <p:spPr>
                <a:xfrm>
                  <a:off x="3604165" y="1745138"/>
                  <a:ext cx="144000" cy="144000"/>
                </a:xfrm>
                <a:prstGeom prst="ellipse">
                  <a:avLst/>
                </a:prstGeom>
                <a:solidFill>
                  <a:srgbClr val="DC3729"/>
                </a:solidFill>
                <a:ln>
                  <a:noFill/>
                </a:ln>
                <a:effectLst>
                  <a:outerShdw blurRad="38100" algn="tr" dir="5400000" dist="19685">
                    <a:srgbClr val="000000">
                      <a:alpha val="37647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5" name="Google Shape;165;p11"/>
              <p:cNvSpPr/>
              <p:nvPr/>
            </p:nvSpPr>
            <p:spPr>
              <a:xfrm>
                <a:off x="768985" y="4603440"/>
                <a:ext cx="36000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C3729"/>
                  </a:buClr>
                  <a:buSzPts val="1200"/>
                  <a:buFont typeface="Open Sans"/>
                  <a:buNone/>
                </a:pPr>
                <a:r>
                  <a:rPr b="1" i="0" lang="ru-RU" sz="1200" u="none" cap="none" strike="noStrike">
                    <a:solidFill>
                      <a:srgbClr val="DC372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Универсальность</a:t>
                </a:r>
                <a:endParaRPr/>
              </a:p>
            </p:txBody>
          </p:sp>
        </p:grpSp>
        <p:sp>
          <p:nvSpPr>
            <p:cNvPr id="166" name="Google Shape;166;p11"/>
            <p:cNvSpPr/>
            <p:nvPr/>
          </p:nvSpPr>
          <p:spPr>
            <a:xfrm>
              <a:off x="645794" y="4711284"/>
              <a:ext cx="4572001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Open Sans"/>
                <a:buNone/>
              </a:pPr>
              <a:r>
                <a:rPr b="0" i="0" lang="ru-RU" sz="105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Совместимость с различными слуховыми устройствами</a:t>
              </a:r>
              <a:endPara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4025"/>
            <a:ext cx="8839198" cy="455840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 txBox="1"/>
          <p:nvPr/>
        </p:nvSpPr>
        <p:spPr>
          <a:xfrm>
            <a:off x="1953725" y="126125"/>
            <a:ext cx="551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Auracast vs. Индукционное поле: в чём разница?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/>
          <p:nvPr/>
        </p:nvSpPr>
        <p:spPr>
          <a:xfrm>
            <a:off x="0" y="234729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Verdana"/>
              <a:buNone/>
            </a:pPr>
            <a:r>
              <a:rPr b="1" i="0" lang="ru-RU" sz="20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Путь сигнала: от аудиоисточника к слуховому импланту</a:t>
            </a:r>
            <a:endParaRPr b="1" i="0" sz="2000" u="none" cap="none" strike="noStrike">
              <a:solidFill>
                <a:srgbClr val="C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0" name="Google Shape;180;p13"/>
          <p:cNvGrpSpPr/>
          <p:nvPr/>
        </p:nvGrpSpPr>
        <p:grpSpPr>
          <a:xfrm>
            <a:off x="334422" y="1136650"/>
            <a:ext cx="8475156" cy="3157220"/>
            <a:chOff x="337820" y="1002919"/>
            <a:chExt cx="8475156" cy="3157220"/>
          </a:xfrm>
        </p:grpSpPr>
        <p:cxnSp>
          <p:nvCxnSpPr>
            <p:cNvPr id="181" name="Google Shape;181;p13"/>
            <p:cNvCxnSpPr/>
            <p:nvPr/>
          </p:nvCxnSpPr>
          <p:spPr>
            <a:xfrm>
              <a:off x="4086000" y="1448464"/>
              <a:ext cx="972000" cy="0"/>
            </a:xfrm>
            <a:prstGeom prst="straightConnector1">
              <a:avLst/>
            </a:prstGeom>
            <a:noFill/>
            <a:ln cap="flat" cmpd="sng" w="285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2" name="Google Shape;182;p13"/>
            <p:cNvCxnSpPr>
              <a:endCxn id="183" idx="2"/>
            </p:cNvCxnSpPr>
            <p:nvPr/>
          </p:nvCxnSpPr>
          <p:spPr>
            <a:xfrm flipH="1" rot="10800000">
              <a:off x="6670702" y="3166101"/>
              <a:ext cx="1274100" cy="553800"/>
            </a:xfrm>
            <a:prstGeom prst="bentConnector2">
              <a:avLst/>
            </a:prstGeom>
            <a:noFill/>
            <a:ln cap="flat" cmpd="sng" w="28575">
              <a:solidFill>
                <a:srgbClr val="0066A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4" name="Google Shape;184;p13"/>
            <p:cNvCxnSpPr/>
            <p:nvPr/>
          </p:nvCxnSpPr>
          <p:spPr>
            <a:xfrm>
              <a:off x="4086000" y="3719830"/>
              <a:ext cx="972000" cy="0"/>
            </a:xfrm>
            <a:prstGeom prst="straightConnector1">
              <a:avLst/>
            </a:prstGeom>
            <a:noFill/>
            <a:ln cap="flat" cmpd="sng" w="28575">
              <a:solidFill>
                <a:srgbClr val="0066A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85" name="Google Shape;185;p13"/>
            <p:cNvGrpSpPr/>
            <p:nvPr/>
          </p:nvGrpSpPr>
          <p:grpSpPr>
            <a:xfrm>
              <a:off x="7083425" y="1946265"/>
              <a:ext cx="1729551" cy="1219836"/>
              <a:chOff x="7008610" y="1946265"/>
              <a:chExt cx="1729551" cy="1219836"/>
            </a:xfrm>
          </p:grpSpPr>
          <p:sp>
            <p:nvSpPr>
              <p:cNvPr id="183" name="Google Shape;183;p13"/>
              <p:cNvSpPr/>
              <p:nvPr/>
            </p:nvSpPr>
            <p:spPr>
              <a:xfrm>
                <a:off x="7008610" y="1946265"/>
                <a:ext cx="1722755" cy="1219836"/>
              </a:xfrm>
              <a:prstGeom prst="roundRect">
                <a:avLst>
                  <a:gd fmla="val 16667" name="adj"/>
                </a:avLst>
              </a:prstGeom>
              <a:solidFill>
                <a:srgbClr val="BFC5CE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3"/>
              <p:cNvSpPr txBox="1"/>
              <p:nvPr/>
            </p:nvSpPr>
            <p:spPr>
              <a:xfrm>
                <a:off x="7015407" y="2079128"/>
                <a:ext cx="1722754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Пассажир </a:t>
                </a:r>
                <a:endParaRPr b="1" i="0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с слуховым аппаратом/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имплантом</a:t>
                </a:r>
                <a:endParaRPr b="0" i="0" sz="8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7" name="Google Shape;187;p13"/>
            <p:cNvGrpSpPr/>
            <p:nvPr/>
          </p:nvGrpSpPr>
          <p:grpSpPr>
            <a:xfrm>
              <a:off x="2347595" y="3279521"/>
              <a:ext cx="1722755" cy="880618"/>
              <a:chOff x="2439138" y="3250276"/>
              <a:chExt cx="1722755" cy="880618"/>
            </a:xfrm>
          </p:grpSpPr>
          <p:sp>
            <p:nvSpPr>
              <p:cNvPr id="188" name="Google Shape;188;p13"/>
              <p:cNvSpPr/>
              <p:nvPr/>
            </p:nvSpPr>
            <p:spPr>
              <a:xfrm>
                <a:off x="2439138" y="3250276"/>
                <a:ext cx="1722755" cy="880618"/>
              </a:xfrm>
              <a:prstGeom prst="roundRect">
                <a:avLst>
                  <a:gd fmla="val 16667" name="adj"/>
                </a:avLst>
              </a:prstGeom>
              <a:solidFill>
                <a:srgbClr val="657689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3"/>
              <p:cNvSpPr txBox="1"/>
              <p:nvPr/>
            </p:nvSpPr>
            <p:spPr>
              <a:xfrm>
                <a:off x="2439138" y="3327487"/>
                <a:ext cx="17227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Технология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AURACAST</a:t>
                </a:r>
                <a:endParaRPr b="1" i="0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190" name="Google Shape;190;p13"/>
            <p:cNvGrpSpPr/>
            <p:nvPr/>
          </p:nvGrpSpPr>
          <p:grpSpPr>
            <a:xfrm>
              <a:off x="337820" y="1946265"/>
              <a:ext cx="1722755" cy="1250970"/>
              <a:chOff x="409575" y="2141220"/>
              <a:chExt cx="1722755" cy="1250970"/>
            </a:xfrm>
          </p:grpSpPr>
          <p:sp>
            <p:nvSpPr>
              <p:cNvPr id="191" name="Google Shape;191;p13"/>
              <p:cNvSpPr/>
              <p:nvPr/>
            </p:nvSpPr>
            <p:spPr>
              <a:xfrm>
                <a:off x="409575" y="2141220"/>
                <a:ext cx="1722755" cy="1219835"/>
              </a:xfrm>
              <a:prstGeom prst="roundRect">
                <a:avLst>
                  <a:gd fmla="val 16667" name="adj"/>
                </a:avLst>
              </a:prstGeom>
              <a:solidFill>
                <a:srgbClr val="455D70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 txBox="1"/>
              <p:nvPr/>
            </p:nvSpPr>
            <p:spPr>
              <a:xfrm>
                <a:off x="409575" y="2930525"/>
                <a:ext cx="172275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800"/>
                  <a:buFont typeface="Open Sans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(микрофоны, записи, экстренные сигналы и тд.)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Calibri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09575" y="2212975"/>
                <a:ext cx="1722755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Система оповещения вокзала</a:t>
                </a:r>
                <a:endParaRPr/>
              </a:p>
            </p:txBody>
          </p:sp>
        </p:grpSp>
        <p:grpSp>
          <p:nvGrpSpPr>
            <p:cNvPr id="194" name="Google Shape;194;p13"/>
            <p:cNvGrpSpPr/>
            <p:nvPr/>
          </p:nvGrpSpPr>
          <p:grpSpPr>
            <a:xfrm>
              <a:off x="2347595" y="1002919"/>
              <a:ext cx="1722755" cy="897278"/>
              <a:chOff x="2302324" y="1005031"/>
              <a:chExt cx="1722755" cy="897278"/>
            </a:xfrm>
          </p:grpSpPr>
          <p:sp>
            <p:nvSpPr>
              <p:cNvPr id="195" name="Google Shape;195;p13"/>
              <p:cNvSpPr/>
              <p:nvPr/>
            </p:nvSpPr>
            <p:spPr>
              <a:xfrm>
                <a:off x="2302324" y="1005031"/>
                <a:ext cx="1722755" cy="880617"/>
              </a:xfrm>
              <a:prstGeom prst="roundRect">
                <a:avLst>
                  <a:gd fmla="val 16667" name="adj"/>
                </a:avLst>
              </a:prstGeom>
              <a:solidFill>
                <a:srgbClr val="909CAA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3"/>
              <p:cNvSpPr txBox="1"/>
              <p:nvPr/>
            </p:nvSpPr>
            <p:spPr>
              <a:xfrm>
                <a:off x="2302324" y="1188966"/>
                <a:ext cx="172275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Индукционная система</a:t>
                </a:r>
                <a:endParaRPr b="0" i="0" sz="8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2302324" y="1686865"/>
                <a:ext cx="172275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800"/>
                  <a:buFont typeface="Open Sans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(индуктор)</a:t>
                </a:r>
                <a:endParaRPr/>
              </a:p>
            </p:txBody>
          </p:sp>
        </p:grpSp>
        <p:grpSp>
          <p:nvGrpSpPr>
            <p:cNvPr id="198" name="Google Shape;198;p13"/>
            <p:cNvGrpSpPr/>
            <p:nvPr/>
          </p:nvGrpSpPr>
          <p:grpSpPr>
            <a:xfrm>
              <a:off x="5073649" y="1002919"/>
              <a:ext cx="1722756" cy="906023"/>
              <a:chOff x="4741358" y="996286"/>
              <a:chExt cx="1722756" cy="906023"/>
            </a:xfrm>
          </p:grpSpPr>
          <p:sp>
            <p:nvSpPr>
              <p:cNvPr id="199" name="Google Shape;199;p13"/>
              <p:cNvSpPr/>
              <p:nvPr/>
            </p:nvSpPr>
            <p:spPr>
              <a:xfrm>
                <a:off x="4741359" y="996286"/>
                <a:ext cx="1722755" cy="880617"/>
              </a:xfrm>
              <a:prstGeom prst="roundRect">
                <a:avLst>
                  <a:gd fmla="val 16667" name="adj"/>
                </a:avLst>
              </a:prstGeom>
              <a:solidFill>
                <a:srgbClr val="909CAA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3"/>
              <p:cNvSpPr txBox="1"/>
              <p:nvPr/>
            </p:nvSpPr>
            <p:spPr>
              <a:xfrm>
                <a:off x="4741360" y="1188966"/>
                <a:ext cx="172275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Магнитное поле</a:t>
                </a:r>
                <a:endParaRPr b="1" i="0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4741358" y="1686865"/>
                <a:ext cx="1722756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800"/>
                  <a:buFont typeface="Open Sans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(Т-режим)</a:t>
                </a:r>
                <a:endParaRPr/>
              </a:p>
            </p:txBody>
          </p:sp>
        </p:grpSp>
        <p:grpSp>
          <p:nvGrpSpPr>
            <p:cNvPr id="202" name="Google Shape;202;p13"/>
            <p:cNvGrpSpPr/>
            <p:nvPr/>
          </p:nvGrpSpPr>
          <p:grpSpPr>
            <a:xfrm>
              <a:off x="5073650" y="3279522"/>
              <a:ext cx="1722755" cy="880617"/>
              <a:chOff x="7083425" y="1086434"/>
              <a:chExt cx="1722755" cy="880617"/>
            </a:xfrm>
          </p:grpSpPr>
          <p:sp>
            <p:nvSpPr>
              <p:cNvPr id="203" name="Google Shape;203;p13"/>
              <p:cNvSpPr/>
              <p:nvPr/>
            </p:nvSpPr>
            <p:spPr>
              <a:xfrm>
                <a:off x="7083425" y="1086434"/>
                <a:ext cx="1722755" cy="880617"/>
              </a:xfrm>
              <a:prstGeom prst="roundRect">
                <a:avLst>
                  <a:gd fmla="val 16667" name="adj"/>
                </a:avLst>
              </a:prstGeom>
              <a:solidFill>
                <a:srgbClr val="657689"/>
              </a:solidFill>
              <a:ln>
                <a:noFill/>
              </a:ln>
              <a:effectLst>
                <a:outerShdw blurRad="38100" algn="tr" dir="5400000" dist="19685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3"/>
              <p:cNvSpPr txBox="1"/>
              <p:nvPr/>
            </p:nvSpPr>
            <p:spPr>
              <a:xfrm>
                <a:off x="7083425" y="1163645"/>
                <a:ext cx="172275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Verdana"/>
                  <a:buNone/>
                </a:pPr>
                <a:r>
                  <a:rPr b="1" i="0" lang="ru-RU" sz="1400" u="none" cap="none" strike="noStrike">
                    <a:solidFill>
                      <a:schemeClr val="lt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Bluetooth LE Audio</a:t>
                </a:r>
                <a:endParaRPr b="1" i="0" sz="1400" u="none" cap="none" strike="noStrik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7083425" y="1686865"/>
                <a:ext cx="172275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800"/>
                  <a:buFont typeface="Open Sans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(цифровой поток)</a:t>
                </a:r>
                <a:endParaRPr b="0" i="0" sz="800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206" name="Google Shape;206;p13"/>
            <p:cNvCxnSpPr>
              <a:stCxn id="192" idx="2"/>
              <a:endCxn id="188" idx="1"/>
            </p:cNvCxnSpPr>
            <p:nvPr/>
          </p:nvCxnSpPr>
          <p:spPr>
            <a:xfrm flipH="1" rot="-5400000">
              <a:off x="1512097" y="2884335"/>
              <a:ext cx="522600" cy="1148400"/>
            </a:xfrm>
            <a:prstGeom prst="bentConnector2">
              <a:avLst/>
            </a:prstGeom>
            <a:noFill/>
            <a:ln cap="flat" cmpd="sng" w="28575">
              <a:solidFill>
                <a:srgbClr val="0066A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" name="Google Shape;207;p13"/>
            <p:cNvCxnSpPr>
              <a:stCxn id="191" idx="0"/>
              <a:endCxn id="196" idx="1"/>
            </p:cNvCxnSpPr>
            <p:nvPr/>
          </p:nvCxnSpPr>
          <p:spPr>
            <a:xfrm rot="-5400000">
              <a:off x="1524547" y="1123215"/>
              <a:ext cx="497700" cy="1148400"/>
            </a:xfrm>
            <a:prstGeom prst="bentConnector2">
              <a:avLst/>
            </a:prstGeom>
            <a:noFill/>
            <a:ln cap="flat" cmpd="sng" w="285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" name="Google Shape;208;p13"/>
            <p:cNvCxnSpPr>
              <a:stCxn id="200" idx="3"/>
              <a:endCxn id="183" idx="0"/>
            </p:cNvCxnSpPr>
            <p:nvPr/>
          </p:nvCxnSpPr>
          <p:spPr>
            <a:xfrm>
              <a:off x="6796405" y="1457209"/>
              <a:ext cx="1148400" cy="489000"/>
            </a:xfrm>
            <a:prstGeom prst="bentConnector2">
              <a:avLst/>
            </a:prstGeom>
            <a:noFill/>
            <a:ln cap="flat" cmpd="sng" w="2857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9" name="Google Shape;209;p13"/>
            <p:cNvSpPr txBox="1"/>
            <p:nvPr/>
          </p:nvSpPr>
          <p:spPr>
            <a:xfrm>
              <a:off x="1165744" y="3443189"/>
              <a:ext cx="118185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A1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0066A1"/>
                  </a:solidFill>
                  <a:latin typeface="Verdana"/>
                  <a:ea typeface="Verdana"/>
                  <a:cs typeface="Verdana"/>
                  <a:sym typeface="Verdana"/>
                </a:rPr>
                <a:t>Аудиосигнал</a:t>
              </a:r>
              <a:endParaRPr b="1" i="0" sz="1000" u="none" cap="none" strike="noStrik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0" name="Google Shape;210;p13"/>
            <p:cNvSpPr txBox="1"/>
            <p:nvPr/>
          </p:nvSpPr>
          <p:spPr>
            <a:xfrm>
              <a:off x="1165744" y="1191809"/>
              <a:ext cx="118185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7EBB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4A7EBB"/>
                  </a:solidFill>
                  <a:latin typeface="Verdana"/>
                  <a:ea typeface="Verdana"/>
                  <a:cs typeface="Verdana"/>
                  <a:sym typeface="Verdana"/>
                </a:rPr>
                <a:t>Аудиосигнал</a:t>
              </a:r>
              <a:endParaRPr b="1" i="0" sz="1000" u="none" cap="none" strike="noStrike">
                <a:solidFill>
                  <a:srgbClr val="4A7EBB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1" name="Google Shape;211;p13"/>
            <p:cNvSpPr txBox="1"/>
            <p:nvPr/>
          </p:nvSpPr>
          <p:spPr>
            <a:xfrm>
              <a:off x="3981075" y="1036623"/>
              <a:ext cx="118185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7EBB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4A7EBB"/>
                  </a:solidFill>
                  <a:latin typeface="Verdana"/>
                  <a:ea typeface="Verdana"/>
                  <a:cs typeface="Verdana"/>
                  <a:sym typeface="Verdana"/>
                </a:rPr>
                <a:t>Магнитное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7EBB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4A7EBB"/>
                  </a:solidFill>
                  <a:latin typeface="Verdana"/>
                  <a:ea typeface="Verdana"/>
                  <a:cs typeface="Verdana"/>
                  <a:sym typeface="Verdana"/>
                </a:rPr>
                <a:t>восприятие</a:t>
              </a:r>
              <a:endParaRPr b="1" i="0" sz="1000" u="none" cap="none" strike="noStrike">
                <a:solidFill>
                  <a:srgbClr val="4A7EBB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2" name="Google Shape;212;p13"/>
            <p:cNvSpPr txBox="1"/>
            <p:nvPr/>
          </p:nvSpPr>
          <p:spPr>
            <a:xfrm>
              <a:off x="3981075" y="3289300"/>
              <a:ext cx="118185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A1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0066A1"/>
                  </a:solidFill>
                  <a:latin typeface="Verdana"/>
                  <a:ea typeface="Verdana"/>
                  <a:cs typeface="Verdana"/>
                  <a:sym typeface="Verdana"/>
                </a:rPr>
                <a:t>Bluetooth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A1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0066A1"/>
                  </a:solidFill>
                  <a:latin typeface="Verdana"/>
                  <a:ea typeface="Verdana"/>
                  <a:cs typeface="Verdana"/>
                  <a:sym typeface="Verdana"/>
                </a:rPr>
                <a:t>передача</a:t>
              </a:r>
              <a:endParaRPr b="1" i="0" sz="1000" u="none" cap="none" strike="noStrik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3" name="Google Shape;213;p13"/>
            <p:cNvSpPr txBox="1"/>
            <p:nvPr/>
          </p:nvSpPr>
          <p:spPr>
            <a:xfrm>
              <a:off x="6834389" y="3443189"/>
              <a:ext cx="118185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6A1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0066A1"/>
                  </a:solidFill>
                  <a:latin typeface="Verdana"/>
                  <a:ea typeface="Verdana"/>
                  <a:cs typeface="Verdana"/>
                  <a:sym typeface="Verdana"/>
                </a:rPr>
                <a:t>Восприятие</a:t>
              </a:r>
              <a:endParaRPr b="1" i="0" sz="1000" u="none" cap="none" strike="noStrike">
                <a:solidFill>
                  <a:srgbClr val="0066A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4" name="Google Shape;214;p13"/>
            <p:cNvSpPr txBox="1"/>
            <p:nvPr/>
          </p:nvSpPr>
          <p:spPr>
            <a:xfrm>
              <a:off x="6834389" y="1191809"/>
              <a:ext cx="118185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7EBB"/>
                </a:buClr>
                <a:buSzPts val="1000"/>
                <a:buFont typeface="Verdana"/>
                <a:buNone/>
              </a:pPr>
              <a:r>
                <a:rPr b="1" i="0" lang="ru-RU" sz="1000" u="none" cap="none" strike="noStrike">
                  <a:solidFill>
                    <a:srgbClr val="4A7EBB"/>
                  </a:solidFill>
                  <a:latin typeface="Verdana"/>
                  <a:ea typeface="Verdana"/>
                  <a:cs typeface="Verdana"/>
                  <a:sym typeface="Verdana"/>
                </a:rPr>
                <a:t>Восприятие</a:t>
              </a:r>
              <a:endParaRPr b="1" i="0" sz="1000" u="none" cap="none" strike="noStrike">
                <a:solidFill>
                  <a:srgbClr val="4A7EBB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background" id="219" name="Google Shape;219;p14"/>
          <p:cNvPicPr preferRelativeResize="0"/>
          <p:nvPr/>
        </p:nvPicPr>
        <p:blipFill rotWithShape="1">
          <a:blip r:embed="rId3">
            <a:alphaModFix/>
          </a:blip>
          <a:srcRect b="0" l="6940" r="4856" t="0"/>
          <a:stretch/>
        </p:blipFill>
        <p:spPr>
          <a:xfrm>
            <a:off x="1271270" y="53841"/>
            <a:ext cx="7821295" cy="50896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/>
          <p:nvPr/>
        </p:nvSpPr>
        <p:spPr>
          <a:xfrm>
            <a:off x="-2541" y="-28911"/>
            <a:ext cx="9166861" cy="5183841"/>
          </a:xfrm>
          <a:prstGeom prst="rect">
            <a:avLst/>
          </a:prstGeom>
          <a:gradFill>
            <a:gsLst>
              <a:gs pos="0">
                <a:srgbClr val="0066A1"/>
              </a:gs>
              <a:gs pos="100000">
                <a:srgbClr val="0070C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250761" y="-746983"/>
            <a:ext cx="3739753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0"/>
              <a:buFont typeface="Arial Black"/>
              <a:buNone/>
            </a:pPr>
            <a:r>
              <a:rPr b="0" i="0" lang="ru-RU" sz="45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394561" y="1890067"/>
            <a:ext cx="452257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Montserrat SemiBold"/>
              <a:buNone/>
            </a:pPr>
            <a:r>
              <a:rPr b="0" i="0" lang="ru-RU" sz="90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Q&amp;A</a:t>
            </a:r>
            <a:endParaRPr b="0" i="0" sz="90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438805" y="3355186"/>
            <a:ext cx="477899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Verdana"/>
              <a:buNone/>
            </a:pPr>
            <a:r>
              <a:rPr b="1" i="0" lang="ru-RU" sz="135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БУДЕМ РАДЫ ОТВЕТИТЬ НА ВАШИ ВОПРОСЫ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