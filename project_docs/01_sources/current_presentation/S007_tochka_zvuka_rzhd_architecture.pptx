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00000" y="90000"/>
            <a:ext cx="854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17355F"/>
                </a:solidFill>
              </a:rPr>
              <a:t>ТОЧКА ЗВУКА РЖД: единая аудиосреда Auracast + Route+ App</a:t>
            </a:r>
            <a:endParaRPr b="1" sz="1800">
              <a:solidFill>
                <a:srgbClr val="17355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50000" y="380000"/>
            <a:ext cx="7839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rgbClr val="52606D"/>
                </a:solidFill>
              </a:rPr>
              <a:t>Один источник речи → несколько способов восприятия: услышать • прочитать • восстановить пропущенное</a:t>
            </a:r>
            <a:endParaRPr sz="900">
              <a:solidFill>
                <a:srgbClr val="52606D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0000" y="670000"/>
            <a:ext cx="165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111827"/>
                </a:solidFill>
              </a:rPr>
              <a:t>🦻  ИНДУКЦИЯ</a:t>
            </a:r>
            <a:endParaRPr b="1" sz="10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111827"/>
                </a:solidFill>
              </a:rPr>
              <a:t>звук напрямую в СА/КИ</a:t>
            </a:r>
            <a:endParaRPr b="1" sz="10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111827"/>
                </a:solidFill>
              </a:rPr>
              <a:t>через режим T/MT</a:t>
            </a:r>
            <a:endParaRPr b="1" sz="1000">
              <a:solidFill>
                <a:srgbClr val="111827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7130000" y="670000"/>
            <a:ext cx="1779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111827"/>
                </a:solidFill>
              </a:rPr>
              <a:t>◉  AURACAST</a:t>
            </a:r>
            <a:endParaRPr b="1" sz="9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111827"/>
                </a:solidFill>
              </a:rPr>
              <a:t>персональный цифровой звук</a:t>
            </a:r>
            <a:endParaRPr b="1" sz="900">
              <a:solidFill>
                <a:srgbClr val="11182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111827"/>
                </a:solidFill>
              </a:rPr>
              <a:t>на совместимые LE Audio устройства</a:t>
            </a:r>
            <a:endParaRPr b="1" sz="900">
              <a:solidFill>
                <a:srgbClr val="111827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470000" y="650000"/>
            <a:ext cx="2199900" cy="81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3470000" y="650000"/>
            <a:ext cx="2199900" cy="2901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3600000" y="675000"/>
            <a:ext cx="194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</a:rPr>
              <a:t>УРОВЕНЬ 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600000" y="970000"/>
            <a:ext cx="1940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233E6B"/>
                </a:solidFill>
              </a:rPr>
              <a:t>Единая цифровая аудиосистема</a:t>
            </a:r>
            <a:endParaRPr b="1" sz="10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233E6B"/>
                </a:solidFill>
              </a:rPr>
              <a:t>AURACAST™</a:t>
            </a:r>
            <a:endParaRPr b="1" sz="10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">
                <a:solidFill>
                  <a:srgbClr val="233E6B"/>
                </a:solidFill>
              </a:rPr>
              <a:t>микрофон / микшер / PA</a:t>
            </a:r>
            <a:endParaRPr b="1" sz="1000">
              <a:solidFill>
                <a:srgbClr val="233E6B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2500000" y="700000"/>
            <a:ext cx="900000" cy="560100"/>
          </a:xfrm>
          <a:prstGeom prst="rect">
            <a:avLst/>
          </a:prstGeom>
          <a:solidFill>
            <a:srgbClr val="CBE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2560000" y="760000"/>
            <a:ext cx="780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446F"/>
                </a:solidFill>
              </a:rPr>
              <a:t>Путь пользователя</a:t>
            </a:r>
            <a:endParaRPr b="1" sz="800">
              <a:solidFill>
                <a:srgbClr val="2344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446F"/>
                </a:solidFill>
              </a:rPr>
              <a:t>с нарушением</a:t>
            </a:r>
            <a:endParaRPr b="1" sz="800">
              <a:solidFill>
                <a:srgbClr val="2344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446F"/>
                </a:solidFill>
              </a:rPr>
              <a:t>слуха</a:t>
            </a:r>
            <a:endParaRPr b="1" sz="800">
              <a:solidFill>
                <a:srgbClr val="23446F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5740000" y="700000"/>
            <a:ext cx="1050000" cy="560100"/>
          </a:xfrm>
          <a:prstGeom prst="rect">
            <a:avLst/>
          </a:prstGeom>
          <a:solidFill>
            <a:srgbClr val="CBE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5800000" y="760000"/>
            <a:ext cx="930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446F"/>
                </a:solidFill>
              </a:rPr>
              <a:t>Путь пользователя</a:t>
            </a:r>
            <a:endParaRPr b="1" sz="800">
              <a:solidFill>
                <a:srgbClr val="2344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446F"/>
                </a:solidFill>
              </a:rPr>
              <a:t>современных</a:t>
            </a:r>
            <a:endParaRPr b="1" sz="800">
              <a:solidFill>
                <a:srgbClr val="23446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446F"/>
                </a:solidFill>
              </a:rPr>
              <a:t>цифровых устройств</a:t>
            </a:r>
            <a:endParaRPr b="1" sz="800">
              <a:solidFill>
                <a:srgbClr val="23446F"/>
              </a:solidFill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90000" y="1540000"/>
            <a:ext cx="2049900" cy="9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90000" y="1540000"/>
            <a:ext cx="2049900" cy="2901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830000" y="1565000"/>
            <a:ext cx="177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</a:rPr>
              <a:t>УРОВЕНЬ 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820000" y="1870000"/>
            <a:ext cx="179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Индукционная зона / локальный контур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для T/MT-совместимых СА и КИ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✓ работает локально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✓ без сотовой связи и Интернета</a:t>
            </a:r>
            <a:endParaRPr b="1" sz="900">
              <a:solidFill>
                <a:srgbClr val="233E6B"/>
              </a:solidFill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6650000" y="1540000"/>
            <a:ext cx="2100000" cy="9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6650000" y="1540000"/>
            <a:ext cx="2100000" cy="2901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6790000" y="1565000"/>
            <a:ext cx="182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</a:rPr>
              <a:t>УРОВЕНЬ 2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790000" y="1870000"/>
            <a:ext cx="182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Сеть AURACAST-узлов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для аудитории / конференц-зала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зона покрытия определяется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RF-обследованием площадки</a:t>
            </a:r>
            <a:endParaRPr b="1" sz="900">
              <a:solidFill>
                <a:srgbClr val="233E6B"/>
              </a:solidFill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3270000" y="1660000"/>
            <a:ext cx="2600100" cy="128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3270000" y="1660000"/>
            <a:ext cx="2600100" cy="3000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3400000" y="1690000"/>
            <a:ext cx="234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</a:rPr>
              <a:t>УРОВЕНЬ 3 — ROUTE+ APP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3410000" y="2040000"/>
            <a:ext cx="630000" cy="729900"/>
          </a:xfrm>
          <a:prstGeom prst="roundRect">
            <a:avLst>
              <a:gd fmla="val 16667" name="adj"/>
            </a:avLst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3480000" y="2110000"/>
            <a:ext cx="489900" cy="560100"/>
          </a:xfrm>
          <a:prstGeom prst="roundRect">
            <a:avLst>
              <a:gd fmla="val 16667" name="adj"/>
            </a:avLst>
          </a:prstGeom>
          <a:solidFill>
            <a:srgbClr val="EE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3520000" y="2140000"/>
            <a:ext cx="410100" cy="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17355F"/>
                </a:solidFill>
              </a:rPr>
              <a:t>Route+</a:t>
            </a:r>
            <a:endParaRPr b="1" sz="800">
              <a:solidFill>
                <a:srgbClr val="17355F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3560000" y="2300000"/>
            <a:ext cx="150000" cy="15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735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3580000" y="2330000"/>
            <a:ext cx="11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600">
                <a:solidFill>
                  <a:srgbClr val="17355F"/>
                </a:solidFill>
              </a:rPr>
              <a:t>QR</a:t>
            </a:r>
            <a:endParaRPr b="1" sz="600">
              <a:solidFill>
                <a:srgbClr val="17355F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520000" y="2490000"/>
            <a:ext cx="4101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4B6A92"/>
                </a:solidFill>
              </a:rPr>
              <a:t>≡  ≡  ≡</a:t>
            </a:r>
            <a:endParaRPr sz="700">
              <a:solidFill>
                <a:srgbClr val="4B6A9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700">
                <a:solidFill>
                  <a:srgbClr val="4B6A92"/>
                </a:solidFill>
              </a:rPr>
              <a:t>≡  ≡</a:t>
            </a:r>
            <a:endParaRPr sz="700">
              <a:solidFill>
                <a:srgbClr val="4B6A92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130000" y="2020000"/>
            <a:ext cx="15801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📱 QR-подключение к лекции</a:t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💬 субтитры + «Не расслышал»</a:t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📝 заметки и сохранение фрагмента</a:t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🌐 перевод / AI-конспект — перспектива</a:t>
            </a:r>
            <a:endParaRPr b="1" sz="800">
              <a:solidFill>
                <a:srgbClr val="233E6B"/>
              </a:solidFill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340000" y="3020000"/>
            <a:ext cx="2460000" cy="360000"/>
          </a:xfrm>
          <a:prstGeom prst="roundRect">
            <a:avLst>
              <a:gd fmla="val 16667" name="adj"/>
            </a:avLst>
          </a:prstGeom>
          <a:solidFill>
            <a:srgbClr val="E7F2FF"/>
          </a:solidFill>
          <a:ln cap="flat" cmpd="sng" w="12700">
            <a:solidFill>
              <a:srgbClr val="2785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20000" y="3090000"/>
            <a:ext cx="23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700">
                <a:solidFill>
                  <a:srgbClr val="1768A6"/>
                </a:solidFill>
              </a:rPr>
              <a:t>LE Audio / LC3 • низкая задержка • параметры подтверждаются испытаниями</a:t>
            </a:r>
            <a:endParaRPr b="1" sz="700">
              <a:solidFill>
                <a:srgbClr val="1768A6"/>
              </a:solidFill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3370000" y="3480000"/>
            <a:ext cx="2400000" cy="519900"/>
          </a:xfrm>
          <a:prstGeom prst="roundRect">
            <a:avLst>
              <a:gd fmla="val 16667" name="adj"/>
            </a:avLst>
          </a:prstGeom>
          <a:solidFill>
            <a:srgbClr val="FFF2D9"/>
          </a:solidFill>
          <a:ln cap="flat" cmpd="sng" w="12700">
            <a:solidFill>
              <a:srgbClr val="D884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480000" y="3540000"/>
            <a:ext cx="2180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7A4300"/>
                </a:solidFill>
              </a:rPr>
              <a:t>НОВЫЙ СЛОЙ ДОСТУПНОСТИ</a:t>
            </a:r>
            <a:endParaRPr b="1" sz="800">
              <a:solidFill>
                <a:srgbClr val="7A43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7A4300"/>
                </a:solidFill>
              </a:rPr>
              <a:t>clean-feed преподавателя → ASR → текст → смысл</a:t>
            </a:r>
            <a:endParaRPr b="1" sz="800">
              <a:solidFill>
                <a:srgbClr val="7A4300"/>
              </a:solidFill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0000" y="3160000"/>
            <a:ext cx="2250000" cy="113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620000" y="3160000"/>
            <a:ext cx="2250000" cy="2901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40000" y="3185000"/>
            <a:ext cx="201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</a:rPr>
              <a:t>УРОВЕНЬ 4 — BRIDGE‑T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720000" y="3500000"/>
            <a:ext cx="500100" cy="500100"/>
          </a:xfrm>
          <a:prstGeom prst="roundRect">
            <a:avLst>
              <a:gd fmla="val 16667" name="adj"/>
            </a:avLst>
          </a:prstGeom>
          <a:solidFill>
            <a:srgbClr val="2785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70000" y="3550000"/>
            <a:ext cx="399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rgbClr val="FFFFFF"/>
                </a:solidFill>
              </a:rPr>
              <a:t>T</a:t>
            </a:r>
            <a:endParaRPr b="1" sz="2400">
              <a:solidFill>
                <a:srgbClr val="FFFFFF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270000" y="3510000"/>
            <a:ext cx="14499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Auracast → LC3 → PCM → DAC</a:t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→ усилитель → индукционная катушка</a:t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совместимость со старыми T/MT СА и КИ</a:t>
            </a:r>
            <a:endParaRPr b="1" sz="800">
              <a:solidFill>
                <a:srgbClr val="233E6B"/>
              </a:solidFill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750000" y="3160000"/>
            <a:ext cx="2150100" cy="113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6750000" y="3160000"/>
            <a:ext cx="2150100" cy="2901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890000" y="3185000"/>
            <a:ext cx="186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</a:rPr>
              <a:t>УРОВЕНЬ 4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920000" y="3520000"/>
            <a:ext cx="519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17355F"/>
                </a:solidFill>
              </a:rPr>
              <a:t>🎧</a:t>
            </a:r>
            <a:endParaRPr sz="2800">
              <a:solidFill>
                <a:srgbClr val="17355F"/>
              </a:solidFill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7510000" y="3520000"/>
            <a:ext cx="12501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LE Audio / Auracast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совместимые наушники</a:t>
            </a:r>
            <a:endParaRPr b="1" sz="900">
              <a:solidFill>
                <a:srgbClr val="233E6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00">
                <a:solidFill>
                  <a:srgbClr val="233E6B"/>
                </a:solidFill>
              </a:rPr>
              <a:t>гарнитуры • приёмники</a:t>
            </a:r>
            <a:endParaRPr b="1" sz="900">
              <a:solidFill>
                <a:srgbClr val="233E6B"/>
              </a:solidFill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3050000" y="4150000"/>
            <a:ext cx="3050100" cy="72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33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3050000" y="4150000"/>
            <a:ext cx="3050100" cy="270000"/>
          </a:xfrm>
          <a:prstGeom prst="roundRect">
            <a:avLst>
              <a:gd fmla="val 16667" name="adj"/>
            </a:avLst>
          </a:prstGeom>
          <a:solidFill>
            <a:srgbClr val="233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220000" y="4175000"/>
            <a:ext cx="270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FFFF"/>
                </a:solidFill>
              </a:rPr>
              <a:t>УРОВЕНЬ 5</a:t>
            </a:r>
            <a:endParaRPr sz="1300">
              <a:solidFill>
                <a:srgbClr val="FFFFFF"/>
              </a:solidFill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3210000" y="4490000"/>
            <a:ext cx="27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🦻  Слуховые аппараты и кохлеарные импланты</a:t>
            </a:r>
            <a:endParaRPr b="1" sz="800">
              <a:solidFill>
                <a:srgbClr val="233E6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33E6B"/>
                </a:solidFill>
              </a:rPr>
              <a:t>T/MT через Bridge‑T  •  прямая поддержка Auracast — для совместимых моделей</a:t>
            </a:r>
            <a:endParaRPr b="1" sz="800">
              <a:solidFill>
                <a:srgbClr val="233E6B"/>
              </a:solidFill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615000" y="4470000"/>
            <a:ext cx="2280000" cy="410100"/>
          </a:xfrm>
          <a:prstGeom prst="roundRect">
            <a:avLst>
              <a:gd fmla="val 16667" name="adj"/>
            </a:avLst>
          </a:prstGeom>
          <a:solidFill>
            <a:srgbClr val="FFF6E7"/>
          </a:solidFill>
          <a:ln cap="flat" cmpd="sng" w="12700">
            <a:solidFill>
              <a:srgbClr val="D884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20000" y="4540000"/>
            <a:ext cx="207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7A4300"/>
                </a:solidFill>
              </a:rPr>
              <a:t>Передача речи — локально.</a:t>
            </a:r>
            <a:endParaRPr b="1" sz="800">
              <a:solidFill>
                <a:srgbClr val="7A43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7A4300"/>
                </a:solidFill>
              </a:rPr>
              <a:t>Интернет нужен только для AI-сервисов.</a:t>
            </a:r>
            <a:endParaRPr b="1" sz="800">
              <a:solidFill>
                <a:srgbClr val="7A4300"/>
              </a:solidFill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6500000" y="4470000"/>
            <a:ext cx="2400000" cy="410100"/>
          </a:xfrm>
          <a:prstGeom prst="roundRect">
            <a:avLst>
              <a:gd fmla="val 16667" name="adj"/>
            </a:avLst>
          </a:prstGeom>
          <a:solidFill>
            <a:srgbClr val="EAF7EE"/>
          </a:solidFill>
          <a:ln cap="flat" cmpd="sng" w="12700">
            <a:solidFill>
              <a:srgbClr val="5B9B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6620000" y="4540000"/>
            <a:ext cx="216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D6A3F"/>
                </a:solidFill>
              </a:rPr>
              <a:t>Для большинства — удобство.</a:t>
            </a:r>
            <a:endParaRPr b="1" sz="800">
              <a:solidFill>
                <a:srgbClr val="2D6A3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800">
                <a:solidFill>
                  <a:srgbClr val="2D6A3F"/>
                </a:solidFill>
              </a:rPr>
              <a:t>Для человека с нарушением слуха — доступ к информации.</a:t>
            </a:r>
            <a:endParaRPr b="1" sz="800">
              <a:solidFill>
                <a:srgbClr val="2D6A3F"/>
              </a:solidFill>
            </a:endParaRPr>
          </a:p>
        </p:txBody>
      </p:sp>
      <p:cxnSp>
        <p:nvCxnSpPr>
          <p:cNvPr id="110" name="Google Shape;110;p13"/>
          <p:cNvCxnSpPr/>
          <p:nvPr/>
        </p:nvCxnSpPr>
        <p:spPr>
          <a:xfrm>
            <a:off x="2820000" y="1040000"/>
            <a:ext cx="650100" cy="8499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" name="Google Shape;111;p13"/>
          <p:cNvCxnSpPr/>
          <p:nvPr/>
        </p:nvCxnSpPr>
        <p:spPr>
          <a:xfrm>
            <a:off x="5670000" y="1040000"/>
            <a:ext cx="980100" cy="8499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3"/>
          <p:cNvCxnSpPr/>
          <p:nvPr/>
        </p:nvCxnSpPr>
        <p:spPr>
          <a:xfrm>
            <a:off x="4560000" y="1470000"/>
            <a:ext cx="0" cy="1701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3"/>
          <p:cNvCxnSpPr/>
          <p:nvPr/>
        </p:nvCxnSpPr>
        <p:spPr>
          <a:xfrm>
            <a:off x="1710000" y="2440000"/>
            <a:ext cx="0" cy="6600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3"/>
          <p:cNvCxnSpPr/>
          <p:nvPr/>
        </p:nvCxnSpPr>
        <p:spPr>
          <a:xfrm>
            <a:off x="7700000" y="2440000"/>
            <a:ext cx="0" cy="6600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3"/>
          <p:cNvCxnSpPr/>
          <p:nvPr/>
        </p:nvCxnSpPr>
        <p:spPr>
          <a:xfrm>
            <a:off x="2870000" y="3720000"/>
            <a:ext cx="620100" cy="6201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3"/>
          <p:cNvCxnSpPr/>
          <p:nvPr/>
        </p:nvCxnSpPr>
        <p:spPr>
          <a:xfrm>
            <a:off x="6100000" y="3720000"/>
            <a:ext cx="650100" cy="6201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dash"/>
            <a:round/>
            <a:headEnd len="med" w="med" type="triangle"/>
            <a:tailEnd len="med" w="med" type="none"/>
          </a:ln>
        </p:spPr>
      </p:cxnSp>
      <p:cxnSp>
        <p:nvCxnSpPr>
          <p:cNvPr id="117" name="Google Shape;117;p13"/>
          <p:cNvCxnSpPr/>
          <p:nvPr/>
        </p:nvCxnSpPr>
        <p:spPr>
          <a:xfrm>
            <a:off x="4570000" y="2940000"/>
            <a:ext cx="0" cy="500100"/>
          </a:xfrm>
          <a:prstGeom prst="straightConnector1">
            <a:avLst/>
          </a:prstGeom>
          <a:noFill/>
          <a:ln cap="flat" cmpd="sng" w="25400">
            <a:solidFill>
              <a:srgbClr val="D8841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3"/>
          <p:cNvCxnSpPr/>
          <p:nvPr/>
        </p:nvCxnSpPr>
        <p:spPr>
          <a:xfrm>
            <a:off x="4570000" y="4000000"/>
            <a:ext cx="0" cy="120000"/>
          </a:xfrm>
          <a:prstGeom prst="straightConnector1">
            <a:avLst/>
          </a:prstGeom>
          <a:noFill/>
          <a:ln cap="flat" cmpd="sng" w="25400">
            <a:solidFill>
              <a:srgbClr val="233E6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