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1600200"/>
            <a:ext cx="68580" cy="2377440"/>
          </a:xfrm>
          <a:prstGeom prst="rect">
            <a:avLst/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600200"/>
            <a:ext cx="9875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EC5F0"/>
                </a:solidFill>
                <a:latin typeface="Arial"/>
              </a:rPr>
              <a:t>ИНКЛЮЗИВНЫЙ МАРШРУТ+ / ТОЧКА ЗВУКА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99669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Локальный аудиоретранслятор персональной речи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65760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 i="0">
                <a:solidFill>
                  <a:srgbClr val="E7F0FB"/>
                </a:solidFill>
                <a:latin typeface="Arial"/>
              </a:rPr>
              <a:t>Единая образовательная сессия: персональный звук и синхронизированный текст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4526280"/>
            <a:ext cx="3108960" cy="411480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4562856"/>
            <a:ext cx="2962656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Route+ MVP — реализован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4526280"/>
            <a:ext cx="4206240" cy="411480"/>
          </a:xfrm>
          <a:prstGeom prst="roundRect">
            <a:avLst>
              <a:gd name="adj" fmla="val 50000"/>
            </a:avLst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4562856"/>
            <a:ext cx="4059935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Hardware-стенд — рекомендован, не закуплен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4526280"/>
            <a:ext cx="2743200" cy="411480"/>
          </a:xfrm>
          <a:prstGeom prst="roundRect">
            <a:avLst>
              <a:gd name="adj" fmla="val 50000"/>
            </a:avLst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7112" y="4562856"/>
            <a:ext cx="2596896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Эксперименты — PLANNED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8064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EC5F0"/>
                </a:solidFill>
                <a:latin typeface="Arial"/>
              </a:rPr>
              <a:t>Автор: Никитин Даниил Константинович · 2026 · GATE 6B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6FD0"/>
                </a:solidFill>
                <a:latin typeface="Arial"/>
              </a:rPr>
              <a:t>ЛИЧНАЯ МОТИВАЦИЯ АВТОРА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2305C"/>
                </a:solidFill>
                <a:latin typeface="Arial"/>
              </a:rPr>
              <a:t>Откуда идея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543032" cy="246888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73152" cy="2468880"/>
          </a:xfrm>
          <a:prstGeom prst="rect">
            <a:avLst/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83080"/>
            <a:ext cx="99669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6233A"/>
                </a:solidFill>
                <a:latin typeface="Arial"/>
              </a:rPr>
              <a:t>«Я — пользователь кохлеарного импланта. Во время обучения я пользовался персональной радиосистемой преподавателя и знаю, как много зависит от того, слышишь ли ты речь целиком».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297680"/>
            <a:ext cx="512064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526280"/>
            <a:ext cx="46634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2305C"/>
                </a:solidFill>
                <a:latin typeface="Arial"/>
              </a:rPr>
              <a:t>Идея — из личного опыта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600" b="0" i="0">
                <a:solidFill>
                  <a:srgbClr val="16233A"/>
                </a:solidFill>
                <a:latin typeface="Arial"/>
              </a:rPr>
              <a:t>Не заменить существующие системы, а исследовать следующий слой.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4297680"/>
            <a:ext cx="5120640" cy="1554480"/>
          </a:xfrm>
          <a:prstGeom prst="roundRect">
            <a:avLst>
              <a:gd name="adj" fmla="val 7000"/>
            </a:avLst>
          </a:prstGeom>
          <a:solidFill>
            <a:srgbClr val="E7F0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4526280"/>
            <a:ext cx="46634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2305C"/>
                </a:solidFill>
                <a:latin typeface="Arial"/>
              </a:rPr>
              <a:t>Фокус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600" b="0" i="0">
                <a:solidFill>
                  <a:srgbClr val="16233A"/>
                </a:solidFill>
                <a:latin typeface="Arial"/>
              </a:rPr>
              <a:t>Доступ к информации для человека с нарушением слуха; и удобство для широкой аудитории.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83"/>
                </a:solidFill>
                <a:latin typeface="Arial"/>
              </a:rPr>
              <a:t>Автор проекта — Никитин Даниил Константинович (AUTHOR_COUNT = 1). Подробнее: AUTHORSHIP_POLICY.md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6FD0"/>
                </a:solidFill>
                <a:latin typeface="Arial"/>
              </a:rP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2305C"/>
                </a:solidFill>
                <a:latin typeface="Arial"/>
              </a:rPr>
              <a:t>Что происходит в большой аудитории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23774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3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911095"/>
            <a:ext cx="2231136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2305C"/>
                </a:solidFill>
                <a:latin typeface="Arial"/>
              </a:rPr>
              <a:t>Преподаватель
+ микрофон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737360"/>
            <a:ext cx="5029200" cy="1280160"/>
          </a:xfrm>
          <a:prstGeom prst="roundRect">
            <a:avLst>
              <a:gd name="adj" fmla="val 8000"/>
            </a:avLst>
          </a:prstGeom>
          <a:solidFill>
            <a:srgbClr val="E7F0FB"/>
          </a:solidFill>
          <a:ln w="12700">
            <a:solidFill>
              <a:srgbClr val="1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1773936"/>
            <a:ext cx="4882896" cy="12070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2305C"/>
                </a:solidFill>
                <a:latin typeface="Arial"/>
              </a:rPr>
              <a:t>Аудитория</a:t>
            </a:r>
          </a:p>
          <a:p>
            <a:pPr algn="ctr">
              <a:spcBef>
                <a:spcPts val="400"/>
              </a:spcBef>
            </a:pPr>
            <a:r>
              <a:rPr sz="1500" b="0" i="0">
                <a:solidFill>
                  <a:srgbClr val="16233A"/>
                </a:solidFill>
                <a:latin typeface="Arial"/>
              </a:rPr>
              <a:t>расстояние · шум · реверберация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874519"/>
            <a:ext cx="23774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3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25712" y="1911095"/>
            <a:ext cx="2231136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2305C"/>
                </a:solidFill>
                <a:latin typeface="Arial"/>
              </a:rPr>
              <a:t>Студент:
теряет часть речи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2377440"/>
            <a:ext cx="457200" cy="0"/>
          </a:xfrm>
          <a:prstGeom prst="line">
            <a:avLst/>
          </a:prstGeom>
          <a:ln w="19050">
            <a:solidFill>
              <a:srgbClr val="123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95360" y="2377440"/>
            <a:ext cx="457200" cy="0"/>
          </a:xfrm>
          <a:prstGeom prst="line">
            <a:avLst/>
          </a:prstGeom>
          <a:ln w="19050">
            <a:solidFill>
              <a:srgbClr val="123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6928" y="3886200"/>
            <a:ext cx="256032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402336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2305C"/>
                </a:solidFill>
                <a:latin typeface="Arial"/>
              </a:rPr>
              <a:t>Расстояние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300" b="0" i="0">
                <a:solidFill>
                  <a:srgbClr val="5B6B83"/>
                </a:solidFill>
                <a:latin typeface="Arial"/>
              </a:rPr>
              <a:t>на дальних рядах речь слабее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3886200"/>
            <a:ext cx="256032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402336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2305C"/>
                </a:solidFill>
                <a:latin typeface="Arial"/>
              </a:rPr>
              <a:t>Шум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300" b="0" i="0">
                <a:solidFill>
                  <a:srgbClr val="5B6B83"/>
                </a:solidFill>
                <a:latin typeface="Arial"/>
              </a:rPr>
              <a:t>разговоры, техника, зал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886200"/>
            <a:ext cx="256032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402336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2305C"/>
                </a:solidFill>
                <a:latin typeface="Arial"/>
              </a:rPr>
              <a:t>Реверберация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300" b="0" i="0">
                <a:solidFill>
                  <a:srgbClr val="5B6B83"/>
                </a:solidFill>
                <a:latin typeface="Arial"/>
              </a:rPr>
              <a:t>«эхо» съедает согласные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0848" y="3886200"/>
            <a:ext cx="256032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8008" y="402336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2305C"/>
                </a:solidFill>
                <a:latin typeface="Arial"/>
              </a:rPr>
              <a:t>Потеря части речи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300" b="0" i="0">
                <a:solidFill>
                  <a:srgbClr val="5B6B83"/>
                </a:solidFill>
                <a:latin typeface="Arial"/>
              </a:rPr>
              <a:t>фраза пропала — вернуть нельзя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212080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1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248656"/>
            <a:ext cx="10735056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Для человека с нарушением слуха это не удобство, а доступ к информации.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83"/>
                </a:solidFill>
                <a:latin typeface="Arial"/>
              </a:rPr>
              <a:t>Акустика класса: BB93 (шум ≤35/40 дБ); +15 дБ SNR недостаточно для младших школьников (Bradley &amp; Sato, 2008). См. CLEAN_FEED_ASR_RESEARCH.md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6FD0"/>
                </a:solidFill>
                <a:latin typeface="Arial"/>
              </a:rPr>
              <a:t>ПРЕДШЕСТВУЮЩИЕ ТЕХНОЛОГИИ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305C"/>
                </a:solidFill>
                <a:latin typeface="Arial"/>
              </a:rPr>
              <a:t>От радиокласса к цифровой доступной аудитории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46888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2468880" cy="146304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847088"/>
            <a:ext cx="221284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2305C"/>
                </a:solidFill>
                <a:latin typeface="Arial"/>
              </a:rPr>
              <a:t>СОНЕТ 2.0 / FM</a:t>
            </a:r>
          </a:p>
          <a:p>
            <a:pPr algn="l">
              <a:lnSpc>
                <a:spcPct val="102000"/>
              </a:lnSpc>
              <a:spcBef>
                <a:spcPts val="500"/>
              </a:spcBef>
            </a:pPr>
            <a:r>
              <a:rPr sz="1300" b="0" i="0">
                <a:solidFill>
                  <a:srgbClr val="16233A"/>
                </a:solidFill>
                <a:latin typeface="Arial"/>
              </a:rPr>
              <a:t>чистый звук в ухо
групповое использование
индукционный выход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29000"/>
            <a:ext cx="2468880" cy="320040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3465576"/>
            <a:ext cx="2322576" cy="2468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решает уже сегодня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27248" y="2286000"/>
            <a:ext cx="310896" cy="0"/>
          </a:xfrm>
          <a:prstGeom prst="line">
            <a:avLst/>
          </a:prstGeom>
          <a:ln w="19050">
            <a:solidFill>
              <a:srgbClr val="123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56432" y="1600200"/>
            <a:ext cx="246888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600200"/>
            <a:ext cx="2468880" cy="146304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847088"/>
            <a:ext cx="221284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2305C"/>
                </a:solidFill>
                <a:latin typeface="Arial"/>
              </a:rPr>
              <a:t>Phonak Roger</a:t>
            </a:r>
          </a:p>
          <a:p>
            <a:pPr algn="l">
              <a:lnSpc>
                <a:spcPct val="102000"/>
              </a:lnSpc>
              <a:spcBef>
                <a:spcPts val="500"/>
              </a:spcBef>
            </a:pPr>
            <a:r>
              <a:rPr sz="1300" b="0" i="0">
                <a:solidFill>
                  <a:srgbClr val="16233A"/>
                </a:solidFill>
                <a:latin typeface="Arial"/>
              </a:rPr>
              <a:t>2.4 ГГц, &lt;20 мс
сеть до 35 микрофонов
NeckLoop: USB → STT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3429000"/>
            <a:ext cx="2468880" cy="320040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3465576"/>
            <a:ext cx="2322576" cy="2468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решает уже сегодня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0" y="2286000"/>
            <a:ext cx="310896" cy="0"/>
          </a:xfrm>
          <a:prstGeom prst="line">
            <a:avLst/>
          </a:prstGeom>
          <a:ln w="19050">
            <a:solidFill>
              <a:srgbClr val="123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72784" y="1600200"/>
            <a:ext cx="246888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600200"/>
            <a:ext cx="2468880" cy="146304"/>
          </a:xfrm>
          <a:prstGeom prst="rect">
            <a:avLst/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847088"/>
            <a:ext cx="221284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2305C"/>
                </a:solidFill>
                <a:latin typeface="Arial"/>
              </a:rPr>
              <a:t>Auracast ALS</a:t>
            </a:r>
          </a:p>
          <a:p>
            <a:pPr algn="l">
              <a:lnSpc>
                <a:spcPct val="102000"/>
              </a:lnSpc>
              <a:spcBef>
                <a:spcPts val="500"/>
              </a:spcBef>
            </a:pPr>
            <a:r>
              <a:rPr sz="1300" b="0" i="0">
                <a:solidFill>
                  <a:srgbClr val="16233A"/>
                </a:solidFill>
                <a:latin typeface="Arial"/>
              </a:rPr>
              <a:t>открытый стандарт
потребительские устройства
парк СА/КИ пока ограничен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4" y="3429000"/>
            <a:ext cx="2468880" cy="320040"/>
          </a:xfrm>
          <a:prstGeom prst="roundRect">
            <a:avLst>
              <a:gd name="adj" fmla="val 5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3465576"/>
            <a:ext cx="2322576" cy="2468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развивается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59952" y="2286000"/>
            <a:ext cx="310896" cy="0"/>
          </a:xfrm>
          <a:prstGeom prst="line">
            <a:avLst/>
          </a:prstGeom>
          <a:ln w="19050">
            <a:solidFill>
              <a:srgbClr val="123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089136" y="1600200"/>
            <a:ext cx="246888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89136" y="1600200"/>
            <a:ext cx="2468880" cy="146304"/>
          </a:xfrm>
          <a:prstGeom prst="rect">
            <a:avLst/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7152" y="1847088"/>
            <a:ext cx="221284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2305C"/>
                </a:solidFill>
                <a:latin typeface="Arial"/>
              </a:rPr>
              <a:t>Точка звука / Route+</a:t>
            </a:r>
          </a:p>
          <a:p>
            <a:pPr algn="l">
              <a:lnSpc>
                <a:spcPct val="102000"/>
              </a:lnSpc>
              <a:spcBef>
                <a:spcPts val="500"/>
              </a:spcBef>
            </a:pPr>
            <a:r>
              <a:rPr sz="1300" b="0" i="0">
                <a:solidFill>
                  <a:srgbClr val="16233A"/>
                </a:solidFill>
                <a:latin typeface="Arial"/>
              </a:rPr>
              <a:t>единая сессия
аудио + текст
«Не расслышал»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89136" y="3429000"/>
            <a:ext cx="2468880" cy="320040"/>
          </a:xfrm>
          <a:prstGeom prst="roundRect">
            <a:avLst>
              <a:gd name="adj" fmla="val 50000"/>
            </a:avLst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3465576"/>
            <a:ext cx="2322576" cy="2468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исследуемый слой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114800"/>
            <a:ext cx="10908792" cy="1508760"/>
          </a:xfrm>
          <a:prstGeom prst="roundRect">
            <a:avLst>
              <a:gd name="adj" fmla="val 8000"/>
            </a:avLst>
          </a:prstGeom>
          <a:solidFill>
            <a:srgbClr val="1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1" y="4151376"/>
            <a:ext cx="10762488" cy="14356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Существующие FM-, Roger- и Auracast-системы решают задачу персональной доставки речи.</a:t>
            </a:r>
          </a:p>
          <a:p>
            <a:pPr algn="ctr">
              <a:lnSpc>
                <a:spcPct val="110000"/>
              </a:lnSpc>
              <a:spcBef>
                <a:spcPts val="800"/>
              </a:spcBef>
            </a:pPr>
            <a:r>
              <a:rPr sz="1600" b="0" i="0">
                <a:solidFill>
                  <a:srgbClr val="E7F0FB"/>
                </a:solidFill>
                <a:latin typeface="Arial"/>
              </a:rPr>
              <a:t>В проекте исследуется следующий уровень: единая образовательная сессия, где тот же чистый речевой источник используется для персонального аудио и синхронизированного цифрового сопровождения пользователя.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83"/>
                </a:solidFill>
                <a:latin typeface="Arial"/>
              </a:rPr>
              <a:t>Источники (2026-09-26): istok-audio.com; phonak.com (Roger NeckLoop USB→STT, 2021); bluetooth.com. См. ASSISTIVE_AUDIO_EVOLUTION.md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6FD0"/>
                </a:solidFill>
                <a:latin typeface="Arial"/>
              </a:rPr>
              <a:t>ТЕХНИЧЕСКАЯ ОСНОВА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2305C"/>
                </a:solidFill>
                <a:latin typeface="Arial"/>
              </a:rPr>
              <a:t>Auracast / LE Audio: кратко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303520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2305C"/>
                </a:solidFill>
                <a:latin typeface="Arial"/>
              </a:rPr>
              <a:t>Что это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500" b="0" i="0">
                <a:solidFill>
                  <a:srgbClr val="16233A"/>
                </a:solidFill>
                <a:latin typeface="Arial"/>
              </a:rPr>
              <a:t>• Возможность LE Audio, определяемая профилем PBP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500" b="0" i="0">
                <a:solidFill>
                  <a:srgbClr val="16233A"/>
                </a:solidFill>
                <a:latin typeface="Arial"/>
              </a:rPr>
              <a:t>• Роли: Broadcast Source / Sink / Assistant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500" b="0" i="0">
                <a:solidFill>
                  <a:srgbClr val="16233A"/>
                </a:solidFill>
                <a:latin typeface="Arial"/>
              </a:rPr>
              <a:t>• BASS обязателен на приёмнике (Auracast-совместимом)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500" b="0" i="0">
                <a:solidFill>
                  <a:srgbClr val="16233A"/>
                </a:solidFill>
                <a:latin typeface="Arial"/>
              </a:rPr>
              <a:t>• Работает локально, без интернета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463040"/>
            <a:ext cx="5303520" cy="2514600"/>
          </a:xfrm>
          <a:prstGeom prst="roundRect">
            <a:avLst>
              <a:gd name="adj" fmla="val 7000"/>
            </a:avLst>
          </a:prstGeom>
          <a:solidFill>
            <a:srgbClr val="FDF0E0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35C00"/>
                </a:solidFill>
                <a:latin typeface="Arial"/>
              </a:rPr>
              <a:t>Чего это НЕ значит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500" b="0" i="0">
                <a:solidFill>
                  <a:srgbClr val="16233A"/>
                </a:solidFill>
                <a:latin typeface="Arial"/>
              </a:rPr>
              <a:t>• Bluetooth 5.2 ≠ Auracast: нужны PBP, стек и квалификация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500" b="0" i="0">
                <a:solidFill>
                  <a:srgbClr val="16233A"/>
                </a:solidFill>
                <a:latin typeface="Arial"/>
              </a:rPr>
              <a:t>• «~100 м» и «неограниченно» — не гарантия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500" b="0" i="0">
                <a:solidFill>
                  <a:srgbClr val="16233A"/>
                </a:solidFill>
                <a:latin typeface="Arial"/>
              </a:rPr>
              <a:t>• Не любые СА/КИ принимают Auracast сегодня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500" b="0" i="0">
                <a:solidFill>
                  <a:srgbClr val="16233A"/>
                </a:solidFill>
                <a:latin typeface="Arial"/>
              </a:rPr>
              <a:t>• Телефон не входит в аудиотракт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60520"/>
            <a:ext cx="10908792" cy="196596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343400"/>
            <a:ext cx="10424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2305C"/>
                </a:solidFill>
                <a:latin typeface="Arial"/>
              </a:rPr>
              <a:t>Параметры для планирования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16233A"/>
                </a:solidFill>
                <a:latin typeface="Arial"/>
              </a:rPr>
              <a:t>LC3: кадры 7.5/10 мс · базовые конфигурации 16/24 кГц (обязательны) · 48 кГц — опция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16233A"/>
                </a:solidFill>
                <a:latin typeface="Arial"/>
              </a:rPr>
              <a:t>Presentation delay: приёмник обязан поддерживать 40 мс; диапазон 20–40 мс</a:t>
            </a:r>
          </a:p>
          <a:p>
            <a:pPr algn="l">
              <a:spcBef>
                <a:spcPts val="600"/>
              </a:spcBef>
            </a:pPr>
            <a:r>
              <a:rPr sz="1500" b="1" i="0">
                <a:solidFill>
                  <a:srgbClr val="B35C00"/>
                </a:solidFill>
                <a:latin typeface="Arial"/>
              </a:rPr>
              <a:t>TARGET задержки проекта: ≤60 мс; ACCEPTABLE ≤100 мс — статус TARGET, подлежит проверке (E01)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69880" y="713232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43032" y="749808"/>
            <a:ext cx="102412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83"/>
                </a:solidFill>
                <a:latin typeface="Arial"/>
              </a:rPr>
              <a:t>Источники: Bluetooth SIG PBP 1.0.1, BAP 1.0.1, BASS 1.0; AURACAST_TECHNICAL_MAP.md; LC3_CONFIGURATION_MATRIX.md (доступ 2026-09-26)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6FD0"/>
                </a:solidFill>
                <a:latin typeface="Arial"/>
              </a:rPr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12305C"/>
                </a:solidFill>
                <a:latin typeface="Arial"/>
              </a:rPr>
              <a:t>«Точка звука»: один чистый источник — две ветки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53128" y="1371600"/>
            <a:ext cx="329184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3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26280" y="1408176"/>
            <a:ext cx="314553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2305C"/>
                </a:solidFill>
                <a:latin typeface="Arial"/>
              </a:rPr>
              <a:t>CLEAN SOURCE (PCM)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9048" y="1920240"/>
            <a:ext cx="0" cy="320040"/>
          </a:xfrm>
          <a:prstGeom prst="line">
            <a:avLst/>
          </a:prstGeom>
          <a:ln w="19050">
            <a:solidFill>
              <a:srgbClr val="123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14600" y="2240280"/>
            <a:ext cx="7159752" cy="0"/>
          </a:xfrm>
          <a:prstGeom prst="line">
            <a:avLst/>
          </a:prstGeom>
          <a:ln w="19050">
            <a:solidFill>
              <a:srgbClr val="123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14600" y="2240280"/>
            <a:ext cx="0" cy="137160"/>
          </a:xfrm>
          <a:prstGeom prst="line">
            <a:avLst/>
          </a:prstGeom>
          <a:ln w="19050">
            <a:solidFill>
              <a:srgbClr val="123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674352" y="2240280"/>
            <a:ext cx="0" cy="137160"/>
          </a:xfrm>
          <a:prstGeom prst="line">
            <a:avLst/>
          </a:prstGeom>
          <a:ln w="19050">
            <a:solidFill>
              <a:srgbClr val="123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417320" y="237744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E7F0FB"/>
          </a:solidFill>
          <a:ln w="12700">
            <a:solidFill>
              <a:srgbClr val="1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90472" y="2414016"/>
            <a:ext cx="2048255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2305C"/>
                </a:solidFill>
                <a:latin typeface="Arial"/>
              </a:rPr>
              <a:t>AUDIO BRANCH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7072" y="237744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E3F4E8"/>
          </a:solidFill>
          <a:ln w="12700">
            <a:solidFill>
              <a:srgbClr val="1E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50224" y="2414016"/>
            <a:ext cx="2048255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E7A46"/>
                </a:solidFill>
                <a:latin typeface="Arial"/>
              </a:rPr>
              <a:t>DATA BRANCH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14600" y="2880360"/>
            <a:ext cx="0" cy="274320"/>
          </a:xfrm>
          <a:prstGeom prst="line">
            <a:avLst/>
          </a:prstGeom>
          <a:ln w="19050">
            <a:solidFill>
              <a:srgbClr val="123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74352" y="2880360"/>
            <a:ext cx="0" cy="274320"/>
          </a:xfrm>
          <a:prstGeom prst="line">
            <a:avLst/>
          </a:prstGeom>
          <a:ln w="19050">
            <a:solidFill>
              <a:srgbClr val="123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417320" y="315468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3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90472" y="3191256"/>
            <a:ext cx="204825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2305C"/>
                </a:solidFill>
                <a:latin typeface="Arial"/>
              </a:rPr>
              <a:t>LC3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7072" y="315468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0224" y="3191256"/>
            <a:ext cx="204825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E7A46"/>
                </a:solidFill>
                <a:latin typeface="Arial"/>
              </a:rPr>
              <a:t>ASR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14600" y="3703320"/>
            <a:ext cx="0" cy="274319"/>
          </a:xfrm>
          <a:prstGeom prst="line">
            <a:avLst/>
          </a:prstGeom>
          <a:ln w="19050">
            <a:solidFill>
              <a:srgbClr val="123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74352" y="3703320"/>
            <a:ext cx="0" cy="274319"/>
          </a:xfrm>
          <a:prstGeom prst="line">
            <a:avLst/>
          </a:prstGeom>
          <a:ln w="19050">
            <a:solidFill>
              <a:srgbClr val="123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234440" y="3977639"/>
            <a:ext cx="2560320" cy="594360"/>
          </a:xfrm>
          <a:prstGeom prst="roundRect">
            <a:avLst>
              <a:gd name="adj" fmla="val 8000"/>
            </a:avLst>
          </a:prstGeom>
          <a:solidFill>
            <a:srgbClr val="E7F0FB"/>
          </a:solidFill>
          <a:ln w="12700">
            <a:solidFill>
              <a:srgbClr val="1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07592" y="4014215"/>
            <a:ext cx="2414015" cy="521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2305C"/>
                </a:solidFill>
                <a:latin typeface="Arial"/>
              </a:rPr>
              <a:t>Auracast эфир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7072" y="3977639"/>
            <a:ext cx="2194560" cy="594360"/>
          </a:xfrm>
          <a:prstGeom prst="roundRect">
            <a:avLst>
              <a:gd name="adj" fmla="val 8000"/>
            </a:avLst>
          </a:prstGeom>
          <a:solidFill>
            <a:srgbClr val="E3F4E8"/>
          </a:solidFill>
          <a:ln w="12700">
            <a:solidFill>
              <a:srgbClr val="1E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50224" y="4014215"/>
            <a:ext cx="2048255" cy="521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E7A46"/>
                </a:solidFill>
                <a:latin typeface="Arial"/>
              </a:rPr>
              <a:t>Transcript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14600" y="4572000"/>
            <a:ext cx="0" cy="182880"/>
          </a:xfrm>
          <a:prstGeom prst="line">
            <a:avLst/>
          </a:prstGeom>
          <a:ln w="19050">
            <a:solidFill>
              <a:srgbClr val="123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00200" y="4754880"/>
            <a:ext cx="2194560" cy="0"/>
          </a:xfrm>
          <a:prstGeom prst="line">
            <a:avLst/>
          </a:prstGeom>
          <a:ln w="19050">
            <a:solidFill>
              <a:srgbClr val="123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4754880"/>
            <a:ext cx="0" cy="137160"/>
          </a:xfrm>
          <a:prstGeom prst="line">
            <a:avLst/>
          </a:prstGeom>
          <a:ln w="19050">
            <a:solidFill>
              <a:srgbClr val="123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794760" y="4754880"/>
            <a:ext cx="0" cy="137160"/>
          </a:xfrm>
          <a:prstGeom prst="line">
            <a:avLst/>
          </a:prstGeom>
          <a:ln w="19050">
            <a:solidFill>
              <a:srgbClr val="123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85800" y="4892040"/>
            <a:ext cx="18288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3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4928616"/>
            <a:ext cx="16824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2305C"/>
                </a:solidFill>
                <a:latin typeface="Arial"/>
              </a:rPr>
              <a:t>Direct sink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80360" y="4892040"/>
            <a:ext cx="18288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3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53512" y="4928616"/>
            <a:ext cx="16824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2305C"/>
                </a:solidFill>
                <a:latin typeface="Arial"/>
              </a:rPr>
              <a:t>Bridge-T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600200" y="5440680"/>
            <a:ext cx="0" cy="228600"/>
          </a:xfrm>
          <a:prstGeom prst="line">
            <a:avLst/>
          </a:prstGeom>
          <a:ln w="19050">
            <a:solidFill>
              <a:srgbClr val="123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794760" y="5440680"/>
            <a:ext cx="0" cy="228600"/>
          </a:xfrm>
          <a:prstGeom prst="line">
            <a:avLst/>
          </a:prstGeom>
          <a:ln w="19050">
            <a:solidFill>
              <a:srgbClr val="123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85800" y="566928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" y="5705856"/>
            <a:ext cx="168249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6233A"/>
                </a:solidFill>
                <a:latin typeface="Arial"/>
              </a:rPr>
              <a:t>Наушники / СА / КИ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360" y="566928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53512" y="5705856"/>
            <a:ext cx="168249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6233A"/>
                </a:solidFill>
                <a:latin typeface="Arial"/>
              </a:rPr>
              <a:t>T/MT → СА / КИ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674352" y="4572000"/>
            <a:ext cx="0" cy="320040"/>
          </a:xfrm>
          <a:prstGeom prst="line">
            <a:avLst/>
          </a:prstGeom>
          <a:ln w="19050">
            <a:solidFill>
              <a:srgbClr val="123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577072" y="489204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 w="12700">
            <a:solidFill>
              <a:srgbClr val="B3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50224" y="4928616"/>
            <a:ext cx="204825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B35C00"/>
                </a:solidFill>
                <a:latin typeface="Arial"/>
              </a:rPr>
              <a:t>Route+ App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5577840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5B6B83"/>
                </a:solidFill>
                <a:latin typeface="Arial"/>
              </a:rPr>
              <a:t>Route+ — текстовый слой; не часть аудиоцепочки Auracast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1481328"/>
            <a:ext cx="128016" cy="128016"/>
          </a:xfrm>
          <a:prstGeom prst="rect">
            <a:avLst/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1426464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6233A"/>
                </a:solidFill>
                <a:latin typeface="Arial"/>
              </a:rPr>
              <a:t>AUDIO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1680" y="1481328"/>
            <a:ext cx="128016" cy="128016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94560" y="1426464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6233A"/>
                </a:solidFill>
                <a:latin typeface="Arial"/>
              </a:rPr>
              <a:t>DATA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80" y="1481328"/>
            <a:ext cx="128016" cy="128016"/>
          </a:xfrm>
          <a:prstGeom prst="rect">
            <a:avLst/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66160" y="1426464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6233A"/>
                </a:solidFill>
                <a:latin typeface="Arial"/>
              </a:rPr>
              <a:t>TEXT (APP)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83"/>
                </a:solidFill>
                <a:latin typeface="Arial"/>
              </a:rPr>
              <a:t>Схема концептуальная; числовые характеристики намеренно не указаны. См. SYSTEM_ARCHITECTURE.md (GATE 6A)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6FD0"/>
                </a:solidFill>
                <a:latin typeface="Arial"/>
              </a:rPr>
              <a:t>ДОСТАВКА ЗВУКА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2305C"/>
                </a:solidFill>
                <a:latin typeface="Arial"/>
              </a:rPr>
              <a:t>Кому и как передаётся звук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474720" cy="4160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59105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2305C"/>
                </a:solidFill>
                <a:latin typeface="Arial"/>
              </a:rPr>
              <a:t>Прямой Auracast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116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1" y="2048256"/>
            <a:ext cx="177393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парк ограничен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19" y="2542032"/>
            <a:ext cx="2834640" cy="7315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1E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578608"/>
            <a:ext cx="268833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6233A"/>
                </a:solidFill>
                <a:latin typeface="Arial"/>
              </a:rPr>
              <a:t>Auracast эфир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7439" y="3273552"/>
            <a:ext cx="0" cy="228600"/>
          </a:xfrm>
          <a:prstGeom prst="line">
            <a:avLst/>
          </a:prstGeom>
          <a:ln w="19050">
            <a:solidFill>
              <a:srgbClr val="1E7A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0119" y="3502152"/>
            <a:ext cx="2834640" cy="7315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1E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3538728"/>
            <a:ext cx="268833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6233A"/>
                </a:solidFill>
                <a:latin typeface="Arial"/>
              </a:rPr>
              <a:t>Прямой приём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77439" y="4233672"/>
            <a:ext cx="0" cy="228600"/>
          </a:xfrm>
          <a:prstGeom prst="line">
            <a:avLst/>
          </a:prstGeom>
          <a:ln w="19050">
            <a:solidFill>
              <a:srgbClr val="1E7A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0119" y="4462272"/>
            <a:ext cx="2834640" cy="7315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4498848"/>
            <a:ext cx="268833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6233A"/>
                </a:solidFill>
                <a:latin typeface="Arial"/>
              </a:rPr>
              <a:t>Наушники / совместимые СА / 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463040"/>
            <a:ext cx="3474720" cy="4160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59105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2305C"/>
                </a:solidFill>
                <a:latin typeface="Arial"/>
              </a:rPr>
              <a:t>Bridge-T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20116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0872" y="2048256"/>
            <a:ext cx="177393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известный класс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2542032"/>
            <a:ext cx="2834640" cy="7315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B3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28032" y="2578608"/>
            <a:ext cx="268833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6233A"/>
                </a:solidFill>
                <a:latin typeface="Arial"/>
              </a:rPr>
              <a:t>Auracast sink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72200" y="3273552"/>
            <a:ext cx="0" cy="228600"/>
          </a:xfrm>
          <a:prstGeom prst="line">
            <a:avLst/>
          </a:prstGeom>
          <a:ln w="19050">
            <a:solidFill>
              <a:srgbClr val="B35C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754880" y="3502152"/>
            <a:ext cx="2834640" cy="7315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B3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8032" y="3538728"/>
            <a:ext cx="268833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6233A"/>
                </a:solidFill>
                <a:latin typeface="Arial"/>
              </a:rPr>
              <a:t>LC3 → PCM → DAC → усилитель → катушка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72200" y="4233672"/>
            <a:ext cx="0" cy="228600"/>
          </a:xfrm>
          <a:prstGeom prst="line">
            <a:avLst/>
          </a:prstGeom>
          <a:ln w="19050">
            <a:solidFill>
              <a:srgbClr val="B35C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54880" y="4462272"/>
            <a:ext cx="2834640" cy="7315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8032" y="4498848"/>
            <a:ext cx="268833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6233A"/>
                </a:solidFill>
                <a:latin typeface="Arial"/>
              </a:rPr>
              <a:t>T/MT → СА / КИ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1463040"/>
            <a:ext cx="3474720" cy="4160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159105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2305C"/>
                </a:solidFill>
                <a:latin typeface="Arial"/>
              </a:rPr>
              <a:t>Только текст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20116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85632" y="2048256"/>
            <a:ext cx="177393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MVP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49640" y="2542032"/>
            <a:ext cx="2834640" cy="7315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1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22792" y="2578608"/>
            <a:ext cx="268833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6233A"/>
                </a:solidFill>
                <a:latin typeface="Arial"/>
              </a:rPr>
              <a:t>Clean feed (PCM)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966960" y="3273552"/>
            <a:ext cx="0" cy="228600"/>
          </a:xfrm>
          <a:prstGeom prst="line">
            <a:avLst/>
          </a:prstGeom>
          <a:ln w="19050">
            <a:solidFill>
              <a:srgbClr val="1F6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549640" y="3502152"/>
            <a:ext cx="2834640" cy="7315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1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22792" y="3538728"/>
            <a:ext cx="268833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6233A"/>
                </a:solidFill>
                <a:latin typeface="Arial"/>
              </a:rPr>
              <a:t>ASR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966960" y="4233672"/>
            <a:ext cx="0" cy="228600"/>
          </a:xfrm>
          <a:prstGeom prst="line">
            <a:avLst/>
          </a:prstGeom>
          <a:ln w="19050">
            <a:solidFill>
              <a:srgbClr val="1F6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49640" y="4462272"/>
            <a:ext cx="2834640" cy="7315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22792" y="4498848"/>
            <a:ext cx="268833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6233A"/>
                </a:solidFill>
                <a:latin typeface="Arial"/>
              </a:rPr>
              <a:t>Route+ App: текст, заметки, доступность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83"/>
                </a:solidFill>
                <a:latin typeface="Arial"/>
              </a:rPr>
              <a:t>Bridge-T — известный класс (Roger MyLink/NeckLoop, Auri RX1, Bettear RTX, AuraCoil); конкретные технические отличия — предмет исследования. См. AURACAST_TELECOIL_PRIOR_ART.md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6FD0"/>
                </a:solidFill>
                <a:latin typeface="Arial"/>
              </a:rPr>
              <a:t>ROUTE+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2305C"/>
                </a:solidFill>
                <a:latin typeface="Arial"/>
              </a:rPr>
              <a:t>Ассистивный текстовый слой (реальный MVP)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77840" y="13716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50992" y="1408176"/>
            <a:ext cx="186537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IMPLEMENTED</a:t>
            </a:r>
          </a:p>
        </p:txBody>
      </p:sp>
      <p:pic>
        <p:nvPicPr>
          <p:cNvPr id="6" name="Picture 5" descr="01_session.png"/>
          <p:cNvPicPr>
            <a:picLocks noChangeAspect="1"/>
          </p:cNvPicPr>
          <p:nvPr/>
        </p:nvPicPr>
        <p:blipFill>
          <a:blip r:embed="rId2"/>
          <a:srcRect t="842" b="842"/>
          <a:stretch>
            <a:fillRect/>
          </a:stretch>
        </p:blipFill>
        <p:spPr>
          <a:xfrm>
            <a:off x="640080" y="1371600"/>
            <a:ext cx="214884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71800" y="13716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3"/>
                </a:solidFill>
                <a:latin typeface="Arial"/>
              </a:rPr>
              <a:t>Экран лекции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874519"/>
            <a:ext cx="6035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 i="0">
                <a:solidFill>
                  <a:srgbClr val="16233A"/>
                </a:solidFill>
                <a:latin typeface="Arial"/>
              </a:rPr>
              <a:t>• Вход в сессию (QR) и статус трансляции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 i="0">
                <a:solidFill>
                  <a:srgbClr val="16233A"/>
                </a:solidFill>
                <a:latin typeface="Arial"/>
              </a:rPr>
              <a:t>• Live captions: partial и final различаются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 i="0">
                <a:solidFill>
                  <a:srgbClr val="16233A"/>
                </a:solidFill>
                <a:latin typeface="Arial"/>
              </a:rPr>
              <a:t>• Таймкоды и история текста лекции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 i="0">
                <a:solidFill>
                  <a:srgbClr val="16233A"/>
                </a:solidFill>
                <a:latin typeface="Arial"/>
              </a:rPr>
              <a:t>• «Не расслышал», заметки, закладки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6233A"/>
                </a:solidFill>
                <a:latin typeface="Arial"/>
              </a:rPr>
              <a:t>• Доступность: размер, контраст, анимация, вибрация</a:t>
            </a:r>
          </a:p>
        </p:txBody>
      </p:sp>
      <p:pic>
        <p:nvPicPr>
          <p:cNvPr id="9" name="Picture 8" descr="02_live_captions.png"/>
          <p:cNvPicPr>
            <a:picLocks noChangeAspect="1"/>
          </p:cNvPicPr>
          <p:nvPr/>
        </p:nvPicPr>
        <p:blipFill>
          <a:blip r:embed="rId3"/>
          <a:srcRect t="37033" b="37033"/>
          <a:stretch>
            <a:fillRect/>
          </a:stretch>
        </p:blipFill>
        <p:spPr>
          <a:xfrm>
            <a:off x="5577840" y="4160520"/>
            <a:ext cx="603504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603504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3"/>
                </a:solidFill>
                <a:latin typeface="Arial"/>
              </a:rPr>
              <a:t>Фрагмент экрана с живыми субтитрами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83"/>
                </a:solidFill>
                <a:latin typeface="Arial"/>
              </a:rPr>
              <a:t>Скриншоты получены из работающего MVP (React + FastAPI, demo mode). Аудио в MVP не воспроизводится. См. 06_application/README.md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6FD0"/>
                </a:solidFill>
                <a:latin typeface="Arial"/>
              </a:rPr>
              <a:t>КЛЮЧЕВАЯ ФУНКЦИЯ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2305C"/>
                </a:solidFill>
                <a:latin typeface="Arial"/>
              </a:rPr>
              <a:t>«Не расслышал»: вернуть пропущенное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E7F0FB"/>
          </a:solidFill>
          <a:ln w="12700">
            <a:solidFill>
              <a:srgbClr val="1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1499616"/>
            <a:ext cx="23225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2305C"/>
                </a:solidFill>
                <a:latin typeface="Arial"/>
              </a:rPr>
              <a:t>Преподаватель говорит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27248" y="1920240"/>
            <a:ext cx="310896" cy="0"/>
          </a:xfrm>
          <a:prstGeom prst="line">
            <a:avLst/>
          </a:prstGeom>
          <a:ln w="19050">
            <a:solidFill>
              <a:srgbClr val="123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56432" y="14630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E7F0FB"/>
          </a:solidFill>
          <a:ln w="12700">
            <a:solidFill>
              <a:srgbClr val="1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9584" y="1499616"/>
            <a:ext cx="23225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2305C"/>
                </a:solidFill>
                <a:latin typeface="Arial"/>
              </a:rPr>
              <a:t>Студент пропустил фразу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0" y="1920240"/>
            <a:ext cx="310896" cy="0"/>
          </a:xfrm>
          <a:prstGeom prst="line">
            <a:avLst/>
          </a:prstGeom>
          <a:ln w="19050">
            <a:solidFill>
              <a:srgbClr val="123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72784" y="14630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E7F0FB"/>
          </a:solidFill>
          <a:ln w="12700">
            <a:solidFill>
              <a:srgbClr val="1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499616"/>
            <a:ext cx="23225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2305C"/>
                </a:solidFill>
                <a:latin typeface="Arial"/>
              </a:rPr>
              <a:t>Нажал «Не расслышал»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59952" y="1920240"/>
            <a:ext cx="310896" cy="0"/>
          </a:xfrm>
          <a:prstGeom prst="line">
            <a:avLst/>
          </a:prstGeom>
          <a:ln w="19050">
            <a:solidFill>
              <a:srgbClr val="123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089136" y="14630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 w="12700">
            <a:solidFill>
              <a:srgbClr val="B3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62288" y="1499616"/>
            <a:ext cx="23225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2305C"/>
                </a:solidFill>
                <a:latin typeface="Arial"/>
              </a:rPr>
              <a:t>Получил последние 15 секунд текста</a:t>
            </a:r>
          </a:p>
        </p:txBody>
      </p:sp>
      <p:pic>
        <p:nvPicPr>
          <p:cNvPr id="15" name="Picture 14" descr="03_missed_speech.png"/>
          <p:cNvPicPr>
            <a:picLocks noChangeAspect="1"/>
          </p:cNvPicPr>
          <p:nvPr/>
        </p:nvPicPr>
        <p:blipFill>
          <a:blip r:embed="rId2"/>
          <a:srcRect t="8090" b="8090"/>
          <a:stretch>
            <a:fillRect/>
          </a:stretch>
        </p:blipFill>
        <p:spPr>
          <a:xfrm>
            <a:off x="777240" y="2651760"/>
            <a:ext cx="1965960" cy="3566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063240" y="2651760"/>
            <a:ext cx="85039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16233A"/>
                </a:solidFill>
                <a:latin typeface="Arial"/>
              </a:rPr>
              <a:t>• Дословный распознанный текст — без AI-пересказа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16233A"/>
                </a:solidFill>
                <a:latin typeface="Arial"/>
              </a:rPr>
              <a:t>• Из окна можно сохранить фрагмент или добавить заметку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16233A"/>
                </a:solidFill>
                <a:latin typeface="Arial"/>
              </a:rPr>
              <a:t>• Частичный (partial) текст визуально отличается от финального</a:t>
            </a:r>
          </a:p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B35C00"/>
                </a:solidFill>
                <a:latin typeface="Arial"/>
              </a:rPr>
              <a:t>• 15 секунд — MVP default, а не доказанный оптимум: окно исследуется в E06/E10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83"/>
                </a:solidFill>
                <a:latin typeface="Arial"/>
              </a:rPr>
              <a:t>Ближайший предшественник механики: Bionica US20090076804 (2007, buffer + instant replay + STT). См. MISSED_SPEECH_PRIOR_ART.md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6FD0"/>
                </a:solidFill>
                <a:latin typeface="Arial"/>
              </a:rPr>
              <a:t>АНАЛОГИ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2305C"/>
                </a:solidFill>
                <a:latin typeface="Arial"/>
              </a:rPr>
              <a:t>Сравнение по значимым критериям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2679192" cy="640080"/>
          </a:xfrm>
          <a:prstGeom prst="roundRect">
            <a:avLst>
              <a:gd name="adj" fmla="val 8000"/>
            </a:avLst>
          </a:prstGeom>
          <a:solidFill>
            <a:srgbClr val="1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499616"/>
            <a:ext cx="253288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Критерий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53512" y="1463040"/>
            <a:ext cx="1792224" cy="640080"/>
          </a:xfrm>
          <a:prstGeom prst="roundRect">
            <a:avLst>
              <a:gd name="adj" fmla="val 8000"/>
            </a:avLst>
          </a:prstGeom>
          <a:solidFill>
            <a:srgbClr val="1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26664" y="1499616"/>
            <a:ext cx="1645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СОНЕТ 2.0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45736" y="1463040"/>
            <a:ext cx="1792224" cy="640080"/>
          </a:xfrm>
          <a:prstGeom prst="roundRect">
            <a:avLst>
              <a:gd name="adj" fmla="val 8000"/>
            </a:avLst>
          </a:prstGeom>
          <a:solidFill>
            <a:srgbClr val="1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8888" y="1499616"/>
            <a:ext cx="1645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Roger +
NeckLoop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463040"/>
            <a:ext cx="1792224" cy="640080"/>
          </a:xfrm>
          <a:prstGeom prst="roundRect">
            <a:avLst>
              <a:gd name="adj" fmla="val 8000"/>
            </a:avLst>
          </a:prstGeom>
          <a:solidFill>
            <a:srgbClr val="1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1499616"/>
            <a:ext cx="1645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Auri /
Bettear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0183" y="1463040"/>
            <a:ext cx="1792224" cy="640080"/>
          </a:xfrm>
          <a:prstGeom prst="roundRect">
            <a:avLst>
              <a:gd name="adj" fmla="val 8000"/>
            </a:avLst>
          </a:prstGeom>
          <a:solidFill>
            <a:srgbClr val="1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1499616"/>
            <a:ext cx="1645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HearAura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22408" y="1463040"/>
            <a:ext cx="1792224" cy="640080"/>
          </a:xfrm>
          <a:prstGeom prst="roundRect">
            <a:avLst>
              <a:gd name="adj" fmla="val 8000"/>
            </a:avLst>
          </a:prstGeom>
          <a:solidFill>
            <a:srgbClr val="1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95560" y="1499616"/>
            <a:ext cx="1645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Точка звука
[PROPOSED]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103120"/>
            <a:ext cx="2679192" cy="56692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2139696"/>
            <a:ext cx="253288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2305C"/>
                </a:solidFill>
                <a:latin typeface="Arial"/>
              </a:rPr>
              <a:t>Чистый звук в ухо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53512" y="2103120"/>
            <a:ext cx="179222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6664" y="2139696"/>
            <a:ext cx="1645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E7A46"/>
                </a:solidFill>
                <a:latin typeface="Arial"/>
              </a:rPr>
              <a:t>YES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45736" y="2103120"/>
            <a:ext cx="179222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2139696"/>
            <a:ext cx="1645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E7A46"/>
                </a:solidFill>
                <a:latin typeface="Arial"/>
              </a:rPr>
              <a:t>YES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2103120"/>
            <a:ext cx="179222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2139696"/>
            <a:ext cx="1645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E7A46"/>
                </a:solidFill>
                <a:latin typeface="Arial"/>
              </a:rPr>
              <a:t>YES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0183" y="2103120"/>
            <a:ext cx="179222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03336" y="2139696"/>
            <a:ext cx="1645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6B83"/>
                </a:solidFill>
                <a:latin typeface="Arial"/>
              </a:rPr>
              <a:t>NO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22408" y="2103120"/>
            <a:ext cx="179222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60" y="2139696"/>
            <a:ext cx="1645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F6FD0"/>
                </a:solidFill>
                <a:latin typeface="Arial"/>
              </a:rPr>
              <a:t>PROPOSED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2670048"/>
            <a:ext cx="2679192" cy="56692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2706624"/>
            <a:ext cx="253288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2305C"/>
                </a:solidFill>
                <a:latin typeface="Arial"/>
              </a:rPr>
              <a:t>Текст из того же источника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53512" y="2670048"/>
            <a:ext cx="179222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2706624"/>
            <a:ext cx="1645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6B83"/>
                </a:solidFill>
                <a:latin typeface="Arial"/>
              </a:rPr>
              <a:t>NO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670048"/>
            <a:ext cx="179222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18888" y="2706624"/>
            <a:ext cx="1645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35C00"/>
                </a:solidFill>
                <a:latin typeface="Arial"/>
              </a:rPr>
              <a:t>PARTIAL
(USB → STT)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2670048"/>
            <a:ext cx="179222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11112" y="2706624"/>
            <a:ext cx="1645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35C00"/>
                </a:solidFill>
                <a:latin typeface="Arial"/>
              </a:rPr>
              <a:t>PARTIAL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30183" y="2670048"/>
            <a:ext cx="179222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03336" y="2706624"/>
            <a:ext cx="1645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E7A46"/>
                </a:solidFill>
                <a:latin typeface="Arial"/>
              </a:rPr>
              <a:t>YES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22408" y="2670048"/>
            <a:ext cx="179222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60" y="2706624"/>
            <a:ext cx="1645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E7A46"/>
                </a:solidFill>
                <a:latin typeface="Arial"/>
              </a:rPr>
              <a:t>YES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3236976"/>
            <a:ext cx="2679192" cy="56692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3273552"/>
            <a:ext cx="253288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2305C"/>
                </a:solidFill>
                <a:latin typeface="Arial"/>
              </a:rPr>
              <a:t>«Не расслышал»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53512" y="3236976"/>
            <a:ext cx="179222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26664" y="3273552"/>
            <a:ext cx="1645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6B83"/>
                </a:solidFill>
                <a:latin typeface="Arial"/>
              </a:rPr>
              <a:t>NO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45736" y="3236976"/>
            <a:ext cx="179222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18888" y="3273552"/>
            <a:ext cx="1645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6B83"/>
                </a:solidFill>
                <a:latin typeface="Arial"/>
              </a:rPr>
              <a:t>NO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37960" y="3236976"/>
            <a:ext cx="179222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11112" y="3273552"/>
            <a:ext cx="1645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6B83"/>
                </a:solidFill>
                <a:latin typeface="Arial"/>
              </a:rPr>
              <a:t>NO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30183" y="3236976"/>
            <a:ext cx="179222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03336" y="3273552"/>
            <a:ext cx="1645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35C00"/>
                </a:solidFill>
                <a:latin typeface="Arial"/>
              </a:rPr>
              <a:t>PARTIAL
(summary)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22408" y="3236976"/>
            <a:ext cx="179222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95560" y="3273552"/>
            <a:ext cx="1645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E7A46"/>
                </a:solidFill>
                <a:latin typeface="Arial"/>
              </a:rPr>
              <a:t>YES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4320" y="3803904"/>
            <a:ext cx="2679192" cy="56692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7472" y="3840480"/>
            <a:ext cx="253288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2305C"/>
                </a:solidFill>
                <a:latin typeface="Arial"/>
              </a:rPr>
              <a:t>Потребительские устройства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953512" y="3803904"/>
            <a:ext cx="179222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26664" y="3840480"/>
            <a:ext cx="1645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6B83"/>
                </a:solidFill>
                <a:latin typeface="Arial"/>
              </a:rPr>
              <a:t>NO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745736" y="3803904"/>
            <a:ext cx="179222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18888" y="3840480"/>
            <a:ext cx="1645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6B83"/>
                </a:solidFill>
                <a:latin typeface="Arial"/>
              </a:rPr>
              <a:t>NO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37960" y="3803904"/>
            <a:ext cx="179222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11112" y="3840480"/>
            <a:ext cx="1645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E7A46"/>
                </a:solidFill>
                <a:latin typeface="Arial"/>
              </a:rPr>
              <a:t>YES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30183" y="3803904"/>
            <a:ext cx="179222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03336" y="3840480"/>
            <a:ext cx="1645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E7A46"/>
                </a:solidFill>
                <a:latin typeface="Arial"/>
              </a:rPr>
              <a:t>YES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122408" y="3803904"/>
            <a:ext cx="179222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95560" y="3840480"/>
            <a:ext cx="1645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E7A46"/>
                </a:solidFill>
                <a:latin typeface="Arial"/>
              </a:rPr>
              <a:t>YES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74320" y="4370831"/>
            <a:ext cx="2679192" cy="56692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7472" y="4407407"/>
            <a:ext cx="253288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2305C"/>
                </a:solidFill>
                <a:latin typeface="Arial"/>
              </a:rPr>
              <a:t>Заметки и доступность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953512" y="4370831"/>
            <a:ext cx="179222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26664" y="4407407"/>
            <a:ext cx="1645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6B83"/>
                </a:solidFill>
                <a:latin typeface="Arial"/>
              </a:rPr>
              <a:t>NO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745736" y="4370831"/>
            <a:ext cx="179222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18888" y="4407407"/>
            <a:ext cx="1645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35C00"/>
                </a:solidFill>
                <a:latin typeface="Arial"/>
              </a:rPr>
              <a:t>PARTIAL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537960" y="4370831"/>
            <a:ext cx="179222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11112" y="4407407"/>
            <a:ext cx="1645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6B83"/>
                </a:solidFill>
                <a:latin typeface="Arial"/>
              </a:rPr>
              <a:t>NO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330183" y="4370831"/>
            <a:ext cx="179222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03336" y="4407407"/>
            <a:ext cx="1645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E7A46"/>
                </a:solidFill>
                <a:latin typeface="Arial"/>
              </a:rPr>
              <a:t>YES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122408" y="4370831"/>
            <a:ext cx="179222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195560" y="4407407"/>
            <a:ext cx="1645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E7A46"/>
                </a:solidFill>
                <a:latin typeface="Arial"/>
              </a:rPr>
              <a:t>YES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4320" y="5047488"/>
            <a:ext cx="11612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B6B83"/>
                </a:solidFill>
                <a:latin typeface="Arial"/>
              </a:rPr>
              <a:t>Легенда: YES — функция есть · NO — нет · PARTIAL — частично/через внешний компонент · PROPOSED — предлагается в проекте и ещё не реализовано.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100" b="0" i="0">
                <a:solidFill>
                  <a:srgbClr val="5B6B83"/>
                </a:solidFill>
                <a:latin typeface="Arial"/>
              </a:rPr>
              <a:t>Источники (2026-09-26): istok-audio.com; phonak.com (Roger NeckLoop); ampetronic.com; bettear.com; hearaura.app; ava.me; Google Live Transcribe docs.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83"/>
                </a:solidFill>
                <a:latin typeface="Arial"/>
              </a:rPr>
              <a:t>Полная матрица — COMPETITOR_MATRIX.md. Таблица не подгоняется в пользу проекта.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6FD0"/>
                </a:solidFill>
                <a:latin typeface="Arial"/>
              </a:rPr>
              <a:t>ОТЛИЧИЕ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2305C"/>
                </a:solidFill>
                <a:latin typeface="Arial"/>
              </a:rPr>
              <a:t>Что именно исследуется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9994392" cy="1234440"/>
          </a:xfrm>
          <a:prstGeom prst="roundRect">
            <a:avLst>
              <a:gd name="adj" fmla="val 8000"/>
            </a:avLst>
          </a:prstGeom>
          <a:solidFill>
            <a:srgbClr val="1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499616"/>
            <a:ext cx="9848088" cy="11612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Отдельные элементы известны. Исследуемый слой — единая образовательная сессия.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347472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3035808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2305C"/>
                </a:solidFill>
                <a:latin typeface="Arial"/>
              </a:rPr>
              <a:t>Общий временной контекст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200" b="0" i="0">
                <a:solidFill>
                  <a:srgbClr val="5B6B83"/>
                </a:solidFill>
                <a:latin typeface="Arial"/>
              </a:rPr>
              <a:t>аудио и текст в одном таймлайне сессии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926080"/>
            <a:ext cx="347472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3035808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2305C"/>
                </a:solidFill>
                <a:latin typeface="Arial"/>
              </a:rPr>
              <a:t>Audio + synchronized data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200" b="0" i="0">
                <a:solidFill>
                  <a:srgbClr val="5B6B83"/>
                </a:solidFill>
                <a:latin typeface="Arial"/>
              </a:rPr>
              <a:t>тот же источник: звук и текстовые события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926080"/>
            <a:ext cx="347472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3035808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2305C"/>
                </a:solidFill>
                <a:latin typeface="Arial"/>
              </a:rPr>
              <a:t>Missed Speech UX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200" b="0" i="0">
                <a:solidFill>
                  <a:srgbClr val="5B6B83"/>
                </a:solidFill>
                <a:latin typeface="Arial"/>
              </a:rPr>
              <a:t>дословный фрагмент последних N секунд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14800"/>
            <a:ext cx="347472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4224528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2305C"/>
                </a:solidFill>
                <a:latin typeface="Arial"/>
              </a:rPr>
              <a:t>Confidence-aware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200" b="0" i="0">
                <a:solidFill>
                  <a:srgbClr val="5B6B83"/>
                </a:solidFill>
                <a:latin typeface="Arial"/>
              </a:rPr>
              <a:t>мягкая индикация неуверенного распознавания (research)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4114800"/>
            <a:ext cx="347472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4224528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2305C"/>
                </a:solidFill>
                <a:latin typeface="Arial"/>
              </a:rPr>
              <a:t>Единый accessibility layer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200" b="0" i="0">
                <a:solidFill>
                  <a:srgbClr val="5B6B83"/>
                </a:solidFill>
                <a:latin typeface="Arial"/>
              </a:rPr>
              <a:t>direct Auracast + Bridge-T + text-only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114800"/>
            <a:ext cx="347472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4224528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2305C"/>
                </a:solidFill>
                <a:latin typeface="Arial"/>
              </a:rPr>
              <a:t>Привязка к сессии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200" b="0" i="0">
                <a:solidFill>
                  <a:srgbClr val="5B6B83"/>
                </a:solidFill>
                <a:latin typeface="Arial"/>
              </a:rPr>
              <a:t>QR → сессия; текст связан с конкретной лекцией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440680"/>
            <a:ext cx="10908792" cy="73152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 w="12700">
            <a:solidFill>
              <a:srgbClr val="B3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1" y="5477256"/>
            <a:ext cx="1076248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B35C00"/>
                </a:solidFill>
                <a:latin typeface="Arial"/>
              </a:rPr>
              <a:t>Clean-feed → STT известен (Roger NeckLoop USB→STT, 2021). Патентная новизна не заявляется до профессионального поиска (GATE 7).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83"/>
                </a:solidFill>
                <a:latin typeface="Arial"/>
              </a:rPr>
              <a:t>См. NOVELTY_MAP.md (N02 NOT_NEW; N05 KNOWN_CLASS; N09 INSUFFICIENT_EVIDENCE) и DIFFERENTIATION_STATEMENT.md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6FD0"/>
                </a:solidFill>
                <a:latin typeface="Arial"/>
              </a:rPr>
              <a:t>НАУЧНО-ИНЖЕНЕРНАЯ ЧАСТЬ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2305C"/>
                </a:solidFill>
                <a:latin typeface="Arial"/>
              </a:rPr>
              <a:t>Эксперименты: что и как будем измерять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2103120" cy="3566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1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664208"/>
            <a:ext cx="630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E01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1627632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664208"/>
            <a:ext cx="630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PLANNED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148840"/>
            <a:ext cx="17830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305C"/>
                </a:solidFill>
                <a:latin typeface="Arial"/>
              </a:rPr>
              <a:t>Latency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16233A"/>
                </a:solidFill>
                <a:latin typeface="Arial"/>
              </a:rPr>
              <a:t>сквозная задержка «микрофон → выход»</a:t>
            </a:r>
          </a:p>
          <a:p>
            <a:pPr algn="l">
              <a:spcBef>
                <a:spcPts val="1000"/>
              </a:spcBef>
            </a:pPr>
            <a:r>
              <a:rPr sz="1100" b="1" i="0">
                <a:solidFill>
                  <a:srgbClr val="5B6B83"/>
                </a:solidFill>
                <a:latin typeface="Arial"/>
              </a:rPr>
              <a:t>Критерий: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35C00"/>
                </a:solidFill>
                <a:latin typeface="Arial"/>
              </a:rPr>
              <a:t>TARGET ≤60 мс; ≤100 допустимо; &gt;150 — брак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5768" y="1463040"/>
            <a:ext cx="2103120" cy="3566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35808" y="1627632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1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664208"/>
            <a:ext cx="630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E03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04487" y="1627632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39" y="1664208"/>
            <a:ext cx="630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PLANNED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148840"/>
            <a:ext cx="17830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305C"/>
                </a:solidFill>
                <a:latin typeface="Arial"/>
              </a:rPr>
              <a:t>Stability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16233A"/>
                </a:solidFill>
                <a:latin typeface="Arial"/>
              </a:rPr>
              <a:t>устойчивость потока ≥1 ч</a:t>
            </a:r>
          </a:p>
          <a:p>
            <a:pPr algn="l">
              <a:spcBef>
                <a:spcPts val="1000"/>
              </a:spcBef>
            </a:pPr>
            <a:r>
              <a:rPr sz="1100" b="1" i="0">
                <a:solidFill>
                  <a:srgbClr val="5B6B83"/>
                </a:solidFill>
                <a:latin typeface="Arial"/>
              </a:rPr>
              <a:t>Критерий: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35C00"/>
                </a:solidFill>
                <a:latin typeface="Arial"/>
              </a:rPr>
              <a:t>нет разрывов в сценарии лекции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65776" y="1463040"/>
            <a:ext cx="2103120" cy="3566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85816" y="1627632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1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58968" y="1664208"/>
            <a:ext cx="630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E04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1627632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1664208"/>
            <a:ext cx="630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PLANNED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2148840"/>
            <a:ext cx="17830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305C"/>
                </a:solidFill>
                <a:latin typeface="Arial"/>
              </a:rPr>
              <a:t>LC3 configs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16233A"/>
                </a:solidFill>
                <a:latin typeface="Arial"/>
              </a:rPr>
              <a:t>сравнение 16_2_1 / 24_2_1 / HQ</a:t>
            </a:r>
          </a:p>
          <a:p>
            <a:pPr algn="l">
              <a:spcBef>
                <a:spcPts val="1000"/>
              </a:spcBef>
            </a:pPr>
            <a:r>
              <a:rPr sz="1100" b="1" i="0">
                <a:solidFill>
                  <a:srgbClr val="5B6B83"/>
                </a:solidFill>
                <a:latin typeface="Arial"/>
              </a:rPr>
              <a:t>Критерий: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35C00"/>
                </a:solidFill>
                <a:latin typeface="Arial"/>
              </a:rPr>
              <a:t>выбор baseline по качеству и задержке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5783" y="1463040"/>
            <a:ext cx="2103120" cy="3566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35823" y="1627632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1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8975" y="1664208"/>
            <a:ext cx="630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E05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04504" y="1627632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77656" y="1664208"/>
            <a:ext cx="630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PLANNED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0375" y="2148840"/>
            <a:ext cx="17830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305C"/>
                </a:solidFill>
                <a:latin typeface="Arial"/>
              </a:rPr>
              <a:t>Clean-feed vs phone ASR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16233A"/>
                </a:solidFill>
                <a:latin typeface="Arial"/>
              </a:rPr>
              <a:t>WER/CER, условия A–E</a:t>
            </a:r>
          </a:p>
          <a:p>
            <a:pPr algn="l">
              <a:spcBef>
                <a:spcPts val="1000"/>
              </a:spcBef>
            </a:pPr>
            <a:r>
              <a:rPr sz="1100" b="1" i="0">
                <a:solidFill>
                  <a:srgbClr val="5B6B83"/>
                </a:solidFill>
                <a:latin typeface="Arial"/>
              </a:rPr>
              <a:t>Критерий: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35C00"/>
                </a:solidFill>
                <a:latin typeface="Arial"/>
              </a:rPr>
              <a:t>измеримое преимущество или его отсутствие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65792" y="1463040"/>
            <a:ext cx="2103120" cy="3566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085832" y="1627632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1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58984" y="1664208"/>
            <a:ext cx="630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E07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54512" y="1627632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27664" y="1664208"/>
            <a:ext cx="630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PLANNED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0384" y="2148840"/>
            <a:ext cx="17830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305C"/>
                </a:solidFill>
                <a:latin typeface="Arial"/>
              </a:rPr>
              <a:t>Bridge-T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16233A"/>
                </a:solidFill>
                <a:latin typeface="Arial"/>
              </a:rPr>
              <a:t>Auracast → индукция → T/MT</a:t>
            </a:r>
          </a:p>
          <a:p>
            <a:pPr algn="l">
              <a:spcBef>
                <a:spcPts val="1000"/>
              </a:spcBef>
            </a:pPr>
            <a:r>
              <a:rPr sz="1100" b="1" i="0">
                <a:solidFill>
                  <a:srgbClr val="5B6B83"/>
                </a:solidFill>
                <a:latin typeface="Arial"/>
              </a:rPr>
              <a:t>Критерий: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35C00"/>
                </a:solidFill>
                <a:latin typeface="Arial"/>
              </a:rPr>
              <a:t>разборчивый сигнал без гула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212080"/>
            <a:ext cx="11457432" cy="731520"/>
          </a:xfrm>
          <a:prstGeom prst="roundRect">
            <a:avLst>
              <a:gd name="adj" fmla="val 8000"/>
            </a:avLst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5248656"/>
            <a:ext cx="113111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EXPERIMENT PLANNED ≠ RESULT ACHIEVED. Ни одна характеристика не измерена; все значения — целевые.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83"/>
                </a:solidFill>
                <a:latin typeface="Arial"/>
              </a:rPr>
              <a:t>Протоколы: EXPERIMENT_READINESS_GATE6.md; LATENCY_TEST_PROTOCOL.md; ASR_COMPARISON_PROTOCOL.md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6FD0"/>
                </a:solidFill>
                <a:latin typeface="Arial"/>
              </a:rPr>
              <a:t>HARDWARE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2305C"/>
                </a:solidFill>
                <a:latin typeface="Arial"/>
              </a:rPr>
              <a:t>Стенд для экспериментов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1389888"/>
            <a:ext cx="3657600" cy="384048"/>
          </a:xfrm>
          <a:prstGeom prst="roundRect">
            <a:avLst>
              <a:gd name="adj" fmla="val 50000"/>
            </a:avLst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02752" y="1426464"/>
            <a:ext cx="35112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RECOMMENDED RESEARCH STAND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847088"/>
            <a:ext cx="36576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2752" y="1883664"/>
            <a:ext cx="35112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B35C00"/>
                </a:solidFill>
                <a:latin typeface="Arial"/>
              </a:rPr>
              <a:t>НЕ ЗАКУПЛЕНО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847088"/>
            <a:ext cx="365760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B3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3774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3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14016"/>
            <a:ext cx="18653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2305C"/>
                </a:solidFill>
                <a:latin typeface="Arial"/>
              </a:rPr>
              <a:t>Источник
(ПК / микрофон)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14600" y="2834640"/>
            <a:ext cx="274320" cy="0"/>
          </a:xfrm>
          <a:prstGeom prst="line">
            <a:avLst/>
          </a:prstGeom>
          <a:ln w="19050">
            <a:solidFill>
              <a:srgbClr val="123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88920" y="23774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7F0FB"/>
          </a:solidFill>
          <a:ln w="12700">
            <a:solidFill>
              <a:srgbClr val="1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2072" y="2414016"/>
            <a:ext cx="18653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F6FD0"/>
                </a:solidFill>
                <a:latin typeface="Arial"/>
              </a:rPr>
              <a:t>nRF5340 Audio DK
Broadcast SOURCE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00600" y="2834640"/>
            <a:ext cx="274320" cy="0"/>
          </a:xfrm>
          <a:prstGeom prst="line">
            <a:avLst/>
          </a:prstGeom>
          <a:ln w="19050">
            <a:solidFill>
              <a:srgbClr val="123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74920" y="23774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3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8072" y="2414016"/>
            <a:ext cx="18653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2305C"/>
                </a:solidFill>
                <a:latin typeface="Arial"/>
              </a:rPr>
              <a:t>Auracast
эфир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86600" y="2834640"/>
            <a:ext cx="274320" cy="0"/>
          </a:xfrm>
          <a:prstGeom prst="line">
            <a:avLst/>
          </a:prstGeom>
          <a:ln w="19050">
            <a:solidFill>
              <a:srgbClr val="123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60920" y="23774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7F0FB"/>
          </a:solidFill>
          <a:ln w="12700">
            <a:solidFill>
              <a:srgbClr val="1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34072" y="2414016"/>
            <a:ext cx="18653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F6FD0"/>
                </a:solidFill>
                <a:latin typeface="Arial"/>
              </a:rPr>
              <a:t>nRF5340 Audio DK
Broadcast SINK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72600" y="2834640"/>
            <a:ext cx="274320" cy="0"/>
          </a:xfrm>
          <a:prstGeom prst="line">
            <a:avLst/>
          </a:prstGeom>
          <a:ln w="19050">
            <a:solidFill>
              <a:srgbClr val="123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46920" y="23774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3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0072" y="2414016"/>
            <a:ext cx="18653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2305C"/>
                </a:solidFill>
                <a:latin typeface="Arial"/>
              </a:rPr>
              <a:t>Аналоговый выход
(3.5 мм)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66760" y="3291840"/>
            <a:ext cx="0" cy="320040"/>
          </a:xfrm>
          <a:prstGeom prst="line">
            <a:avLst/>
          </a:prstGeom>
          <a:ln w="19050">
            <a:solidFill>
              <a:srgbClr val="B35C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66560" y="361188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 w="12700">
            <a:solidFill>
              <a:srgbClr val="B3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9712" y="3648456"/>
            <a:ext cx="305409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B35C00"/>
                </a:solidFill>
                <a:latin typeface="Arial"/>
              </a:rPr>
              <a:t>Bridge-T branch: индукция → T/MT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66760" y="4251960"/>
            <a:ext cx="0" cy="320040"/>
          </a:xfrm>
          <a:prstGeom prst="line">
            <a:avLst/>
          </a:prstGeom>
          <a:ln w="19050">
            <a:solidFill>
              <a:srgbClr val="B35C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766560" y="4572000"/>
            <a:ext cx="3200400" cy="5486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4608576"/>
            <a:ext cx="30540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6233A"/>
                </a:solidFill>
                <a:latin typeface="Arial"/>
              </a:rPr>
              <a:t>СА / КИ (старый парк)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572000"/>
            <a:ext cx="5943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2305C"/>
                </a:solidFill>
                <a:latin typeface="Arial"/>
              </a:rPr>
              <a:t>Что даёт стенд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500" b="0" i="0">
                <a:solidFill>
                  <a:srgbClr val="16233A"/>
                </a:solidFill>
                <a:latin typeface="Arial"/>
              </a:rPr>
              <a:t>• Контроль LC3-конфигураций и QoS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6233A"/>
                </a:solidFill>
                <a:latin typeface="Arial"/>
              </a:rPr>
              <a:t>• Управляемые измерения задержки и устойчивости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5B6B83"/>
                </a:solidFill>
                <a:latin typeface="Arial"/>
              </a:rPr>
              <a:t>• Low-cost demo: FMA120 + AuraClip (&lt;$150–250)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83"/>
                </a:solidFill>
                <a:latin typeface="Arial"/>
              </a:rPr>
              <a:t>Альтернативы и обоснование — PURCHASE_DECISION.md; DEVKIT_COMPARISON.md. Стенд на devkit ≠ квалифицированный продукт.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6FD0"/>
                </a:solidFill>
                <a:latin typeface="Arial"/>
              </a:rPr>
              <a:t>РЕАЛЬНЫЕ ВНЕДРЕНИЯ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2305C"/>
                </a:solidFill>
                <a:latin typeface="Arial"/>
              </a:rPr>
              <a:t>Auracast ALS в образовании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429000" cy="3566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73736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305C"/>
                </a:solidFill>
                <a:latin typeface="Arial"/>
              </a:rPr>
              <a:t>University of Queensland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51460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1" y="2551176"/>
            <a:ext cx="1453896" cy="256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PRIMARY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7180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6233A"/>
                </a:solidFill>
                <a:latin typeface="Arial"/>
              </a:rPr>
              <a:t>65 лекционных аудиторий.
Трансмиттеры Audeara, выдача приёмников, QR-инструкции.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343400"/>
            <a:ext cx="3063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5B6B83"/>
                </a:solidFill>
                <a:latin typeface="Arial"/>
              </a:rPr>
              <a:t>Официально: «iPhones do not currently support this feature».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554480"/>
            <a:ext cx="3429000" cy="3566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173736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305C"/>
                </a:solidFill>
                <a:latin typeface="Arial"/>
              </a:rPr>
              <a:t>University of Oxford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81144" y="251460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551176"/>
            <a:ext cx="1453896" cy="256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vendor + press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97180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6233A"/>
                </a:solidFill>
                <a:latin typeface="Arial"/>
              </a:rPr>
              <a:t>Библиотека Bodleian → стандарт кампуса.
Auri TX2N-D (Dante), 16× RX1, neckloops.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4343400"/>
            <a:ext cx="3063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5B6B83"/>
                </a:solidFill>
                <a:latin typeface="Arial"/>
              </a:rPr>
              <a:t>Подтверждено вендором и отраслевой прессой; ox.ac.uk недоступен.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554480"/>
            <a:ext cx="3429000" cy="3566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173736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305C"/>
                </a:solidFill>
                <a:latin typeface="Arial"/>
              </a:rPr>
              <a:t>UAL, Creative Computing Institute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39327" y="251460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551176"/>
            <a:ext cx="1453896" cy="256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PRIMARY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97180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6233A"/>
                </a:solidFill>
                <a:latin typeface="Arial"/>
              </a:rPr>
              <a:t>3 аудитории (2×96, 1×48).
Auri TX2N-D, 4× RX1; монтаж ~1 час.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4343400"/>
            <a:ext cx="3063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5B6B83"/>
                </a:solidFill>
                <a:latin typeface="Arial"/>
              </a:rPr>
              <a:t>Малый пилот; для устройств без Auracast — выдача приёмников.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49240"/>
            <a:ext cx="10908792" cy="685800"/>
          </a:xfrm>
          <a:prstGeom prst="roundRect">
            <a:avLst>
              <a:gd name="adj" fmla="val 8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1" y="5385816"/>
            <a:ext cx="10762488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2305C"/>
                </a:solidFill>
                <a:latin typeface="Arial"/>
              </a:rPr>
              <a:t>Развёртывания подтверждают аудиотракт. Live captions из того же источника в реальных внедрениях не подтверждены.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83"/>
                </a:solidFill>
                <a:latin typeface="Arial"/>
              </a:rPr>
              <a:t>Источники (2026-09-26): news.uq.edu.au; my.uq.edu.au; auriaudio.com; listentech.com; bluetooth.com location profiles; AV Magazine. См. REAL_WORLD_DEPLOYMENTS.md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6FD0"/>
                </a:solidFill>
                <a:latin typeface="Arial"/>
              </a:rPr>
              <a:t>ЦЕННОСТЬ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2305C"/>
                </a:solidFill>
                <a:latin typeface="Arial"/>
              </a:rPr>
              <a:t>Для кого и что меняется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1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1636776"/>
            <a:ext cx="5157216" cy="3127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Для человека
с нарушением слуха</a:t>
            </a:r>
          </a:p>
          <a:p>
            <a:pPr algn="ctr">
              <a:lnSpc>
                <a:spcPct val="115000"/>
              </a:lnSpc>
              <a:spcBef>
                <a:spcPts val="1400"/>
              </a:spcBef>
            </a:pPr>
            <a:r>
              <a:rPr sz="1700" b="0" i="0">
                <a:solidFill>
                  <a:srgbClr val="E7F0FB"/>
                </a:solidFill>
                <a:latin typeface="Arial"/>
              </a:rPr>
              <a:t>Доступ к информации —
не удобство, а необходимость.</a:t>
            </a:r>
          </a:p>
          <a:p>
            <a:pPr algn="ctr">
              <a:lnSpc>
                <a:spcPct val="120000"/>
              </a:lnSpc>
              <a:spcBef>
                <a:spcPts val="1400"/>
              </a:spcBef>
            </a:pPr>
            <a:r>
              <a:rPr sz="1500" b="0" i="0">
                <a:solidFill>
                  <a:srgbClr val="FFFFFF"/>
                </a:solidFill>
                <a:latin typeface="Arial"/>
              </a:rPr>
              <a:t>• персональный звук
• текст из того же источника
• «Не расслышал»
• поддержка старых СА/КИ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60020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18504" y="1636776"/>
            <a:ext cx="5157216" cy="3127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12305C"/>
                </a:solidFill>
                <a:latin typeface="Arial"/>
              </a:rPr>
              <a:t>Для широкой
аудитории</a:t>
            </a:r>
          </a:p>
          <a:p>
            <a:pPr algn="ctr">
              <a:lnSpc>
                <a:spcPct val="115000"/>
              </a:lnSpc>
              <a:spcBef>
                <a:spcPts val="1400"/>
              </a:spcBef>
            </a:pPr>
            <a:r>
              <a:rPr sz="1700" b="0" i="0">
                <a:solidFill>
                  <a:srgbClr val="16233A"/>
                </a:solidFill>
                <a:latin typeface="Arial"/>
              </a:rPr>
              <a:t>Разборчивость и текст там,
где акустика не помогает.</a:t>
            </a:r>
          </a:p>
          <a:p>
            <a:pPr algn="ctr">
              <a:lnSpc>
                <a:spcPct val="120000"/>
              </a:lnSpc>
              <a:spcBef>
                <a:spcPts val="1400"/>
              </a:spcBef>
            </a:pPr>
            <a:r>
              <a:rPr sz="1500" b="0" i="0">
                <a:solidFill>
                  <a:srgbClr val="16233A"/>
                </a:solidFill>
                <a:latin typeface="Arial"/>
              </a:rPr>
              <a:t>• дальние ряды
• шумные и гулкие залы
• иностранные студенты
• заметки и конспект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08792" cy="868680"/>
          </a:xfrm>
          <a:prstGeom prst="roundRect">
            <a:avLst>
              <a:gd name="adj" fmla="val 8000"/>
            </a:avLst>
          </a:prstGeom>
          <a:solidFill>
            <a:srgbClr val="E7F0FB"/>
          </a:solidFill>
          <a:ln w="12700">
            <a:solidFill>
              <a:srgbClr val="1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1" y="5111496"/>
            <a:ext cx="10762488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2305C"/>
                </a:solidFill>
                <a:latin typeface="Arial"/>
              </a:rPr>
              <a:t>Для широкой аудитории это удобство. Для человека с нарушением слуха — доступ к информации.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83"/>
                </a:solidFill>
                <a:latin typeface="Arial"/>
              </a:rPr>
              <a:t>Принцип проекта. Формулировка «здоровые люди» не используется.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6FD0"/>
                </a:solidFill>
                <a:latin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2305C"/>
                </a:solidFill>
                <a:latin typeface="Arial"/>
              </a:rPr>
              <a:t>Что сделано, что дальше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429000" cy="3474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3429000" cy="18288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202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7A46"/>
                </a:solidFill>
                <a:latin typeface="Arial"/>
              </a:rPr>
              <a:t>01 ·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2860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2305C"/>
                </a:solidFill>
                <a:latin typeface="Arial"/>
              </a:rPr>
              <a:t>Route+ Software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017520"/>
            <a:ext cx="30632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6233A"/>
                </a:solidFill>
                <a:latin typeface="Arial"/>
              </a:rPr>
              <a:t>• Live captions, «Не расслышал», заметки, доступность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6233A"/>
                </a:solidFill>
                <a:latin typeface="Arial"/>
              </a:rPr>
              <a:t>• Demo mode без железа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6233A"/>
                </a:solidFill>
                <a:latin typeface="Arial"/>
              </a:rPr>
              <a:t>• Тесты: 19 backend + 4 frontend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96511" y="3291840"/>
            <a:ext cx="274321" cy="0"/>
          </a:xfrm>
          <a:prstGeom prst="line">
            <a:avLst/>
          </a:prstGeom>
          <a:ln w="19050">
            <a:solidFill>
              <a:srgbClr val="1E7A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98264" y="1600200"/>
            <a:ext cx="3429000" cy="3474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8264" y="1600200"/>
            <a:ext cx="3429000" cy="182880"/>
          </a:xfrm>
          <a:prstGeom prst="rect">
            <a:avLst/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9202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35C00"/>
                </a:solidFill>
                <a:latin typeface="Arial"/>
              </a:rPr>
              <a:t>02 · 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2860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2305C"/>
                </a:solidFill>
                <a:latin typeface="Arial"/>
              </a:rPr>
              <a:t>Hardware stand + эксперименты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017520"/>
            <a:ext cx="30632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6233A"/>
                </a:solidFill>
                <a:latin typeface="Arial"/>
              </a:rPr>
              <a:t>• 2× nRF5340 Audio DK (закупка — по решению)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6233A"/>
                </a:solidFill>
                <a:latin typeface="Arial"/>
              </a:rPr>
              <a:t>• E01 latency · E03 stability · E04 LC3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6233A"/>
                </a:solidFill>
                <a:latin typeface="Arial"/>
              </a:rPr>
              <a:t>• E05 clean-feed vs phone ASR · E07 Bridge-T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54696" y="3291840"/>
            <a:ext cx="274320" cy="0"/>
          </a:xfrm>
          <a:prstGeom prst="line">
            <a:avLst/>
          </a:prstGeom>
          <a:ln w="19050">
            <a:solidFill>
              <a:srgbClr val="B35C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56448" y="1600200"/>
            <a:ext cx="3429000" cy="3474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6448" y="1600200"/>
            <a:ext cx="3429000" cy="182880"/>
          </a:xfrm>
          <a:prstGeom prst="rect">
            <a:avLst/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9202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6FD0"/>
                </a:solidFill>
                <a:latin typeface="Arial"/>
              </a:rPr>
              <a:t>03 · THEN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2860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2305C"/>
                </a:solidFill>
                <a:latin typeface="Arial"/>
              </a:rPr>
              <a:t>Пилот и расширение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017520"/>
            <a:ext cx="30632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6233A"/>
                </a:solidFill>
                <a:latin typeface="Arial"/>
              </a:rPr>
              <a:t>• Пилот в учебной аудитории (E08/E09/E10)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6233A"/>
                </a:solidFill>
                <a:latin typeface="Arial"/>
              </a:rPr>
              <a:t>• Уточнение окна «Не расслышал»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6233A"/>
                </a:solidFill>
                <a:latin typeface="Arial"/>
              </a:rPr>
              <a:t>• AI-слой: перевод/конспект — FUTURE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83"/>
                </a:solidFill>
                <a:latin typeface="Arial"/>
              </a:rPr>
              <a:t>Статусы: NOW — реализовано (MVP); NEXT — запланировано, не выполнено; THEN — после экспериментов. См. ROADMAP.md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Итог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E7F0FB"/>
                </a:solidFill>
                <a:latin typeface="Arial"/>
              </a:rPr>
              <a:t>• Реализован программный MVP ассистивного текстового слоя.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E7F0FB"/>
                </a:solidFill>
                <a:latin typeface="Arial"/>
              </a:rPr>
              <a:t>• Определён архитектурный baseline: чистый источник → аудио (Auracast / Bridge-T) и текст (ASR → Route+).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E7F0FB"/>
                </a:solidFill>
                <a:latin typeface="Arial"/>
              </a:rPr>
              <a:t>• Подготовлены протоколы экспериментов; hardware-стенд рекомендован.</a:t>
            </a:r>
          </a:p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E7F0FB"/>
                </a:solidFill>
                <a:latin typeface="Arial"/>
              </a:rPr>
              <a:t>• Новизна не заявляется: известные блоки названы честно; отличие — в исследуемом системном слое.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06240"/>
            <a:ext cx="3200400" cy="411480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4242816"/>
            <a:ext cx="3054096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IMPLEMENTED — 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4206240"/>
            <a:ext cx="3474720" cy="411480"/>
          </a:xfrm>
          <a:prstGeom prst="roundRect">
            <a:avLst>
              <a:gd name="adj" fmla="val 50000"/>
            </a:avLst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5072" y="4242816"/>
            <a:ext cx="3328415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PLANNED — эксперименты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4206240"/>
            <a:ext cx="3200400" cy="411480"/>
          </a:xfrm>
          <a:prstGeom prst="roundRect">
            <a:avLst>
              <a:gd name="adj" fmla="val 5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62672" y="4242816"/>
            <a:ext cx="3054096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FUTURE — AI-слой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Автор: Никитин Даниил Константинович (AUTHOR_COUNT = 1)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 i="0">
                <a:solidFill>
                  <a:srgbClr val="9EC5F0"/>
                </a:solidFill>
                <a:latin typeface="Arial"/>
              </a:rPr>
              <a:t>Материалы и источники: PROJECT_STATE.md, MASTER_REPORT.md, research-файлы GATE 2–6A.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